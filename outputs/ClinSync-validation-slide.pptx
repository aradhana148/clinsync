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ea80b9b8fa4e22" /><Relationship Type="http://schemas.openxmlformats.org/officeDocument/2006/relationships/extended-properties" Target="/docProps/app.xml" Id="R2177c977ccad46b5" /><Relationship Type="http://schemas.openxmlformats.org/officeDocument/2006/relationships/officeDocument" Target="/ppt/presentation.xml" Id="R2479320b814a4b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3dc74cb7a04ff4"/>
  </p:sldMasterIdLst>
  <p:notesMasterIdLst>
    <p:notesMasterId xmlns:r="http://schemas.openxmlformats.org/officeDocument/2006/relationships" r:id="Rab601fbc41c44dff"/>
  </p:notesMasterIdLst>
  <p:sldIdLst>
    <p:sldId xmlns:r="http://schemas.openxmlformats.org/officeDocument/2006/relationships" id="256" r:id="Rf661e19027b74ef9"/>
  </p:sldIdLst>
  <p:sldSz cx="14458950" cy="8286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eff823445f4132" /><Relationship Type="http://schemas.openxmlformats.org/officeDocument/2006/relationships/slideMaster" Target="/ppt/slideMasters/slideMaster1.xml" Id="R093dc74cb7a04ff4" /><Relationship Type="http://schemas.openxmlformats.org/officeDocument/2006/relationships/notesMaster" Target="/ppt/notesMasters/notesMaster1.xml" Id="Rab601fbc41c44dff" /><Relationship Type="http://schemas.openxmlformats.org/officeDocument/2006/relationships/presProps" Target="/ppt/presProps.xml" Id="Raa654ca0b6054ef4" /><Relationship Type="http://schemas.openxmlformats.org/officeDocument/2006/relationships/tableStyles" Target="/ppt/tableStyles.xml" Id="R149aacf470d343e5" /><Relationship Type="http://schemas.openxmlformats.org/officeDocument/2006/relationships/slide" Target="/ppt/slides/slide1.xml" Id="Rf661e19027b74e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c4c1add77a42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e2f166f5c442fd" /><Relationship Type="http://schemas.openxmlformats.org/officeDocument/2006/relationships/notesMaster" Target="/ppt/notesMasters/notesMaster1.xml" Id="R4d368b93dac943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Based on ClinSync implementation: backend/routers/doctor.py (patient scope, order validation, cancellation); backend/routers/technician.py (assigned technician, sample state, duplicate sample/run checks, rejection and rerun); backend/routers/pathologist.py (review access, reasons, release); backend/lab_workflow.py (six displayed stages); frontend/src/api/client.ts (API errors). Received means technician assignment in the current application. Cancellation is permitted for Ordered/Assigned orders with no analysis results or released reports and no sample processing. Rejection does not automatically cancel. Key successful actions have audit records; the application does not provide a general integration failure log or message resend console. The analyser is simulated in the current implementation. The source was a screenshot; text and workflow were recreated as editable slide elements.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0878ce238d49e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e9bed7f25444f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8260707789420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5699d9daae42d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d5e0bf82f847f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5cad2fc11140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887F97-862A-4BF0-8696-B1AB772292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45895" y="3130550"/>
            <a:ext cx="11567160" cy="119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6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59D3F77-710A-4B46-A241-365ECD28FED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168843" y="4557712"/>
            <a:ext cx="10121265" cy="92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49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CDD55FA-FEAF-4344-AB39-71E8263D00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45895" y="3452813"/>
            <a:ext cx="1156716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98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D08E9C4-51B9-4BD5-A138-F2A63C7E2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3316" y="644525"/>
            <a:ext cx="12832318" cy="1012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91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0C9C2EB-E7ED-4CF0-9A32-C82212EF7A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13316" y="2301875"/>
            <a:ext cx="12832318" cy="515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71105" indent="-271105">
              <a:lnSpc>
                <a:spcPct val="110000"/>
              </a:lnSpc>
              <a:spcBef>
                <a:spcPts val="0"/>
              </a:spcBef>
              <a:spcAft>
                <a:spcPts val="1423"/>
              </a:spcAft>
              <a:buChar char="•"/>
            </a:lvl1pPr>
            <a:lvl2pPr marL="632579" indent="-271105">
              <a:lnSpc>
                <a:spcPct val="110000"/>
              </a:lnSpc>
              <a:spcBef>
                <a:spcPts val="0"/>
              </a:spcBef>
              <a:spcAft>
                <a:spcPts val="1423"/>
              </a:spcAft>
              <a:buChar char="•"/>
            </a:lvl2pPr>
            <a:lvl3pPr marL="994053" indent="-271105">
              <a:lnSpc>
                <a:spcPct val="110000"/>
              </a:lnSpc>
              <a:spcBef>
                <a:spcPts val="0"/>
              </a:spcBef>
              <a:spcAft>
                <a:spcPts val="1423"/>
              </a:spcAft>
              <a:buChar char="•"/>
            </a:lvl3pPr>
            <a:lvl4pPr marL="1355527" indent="-271105">
              <a:lnSpc>
                <a:spcPct val="110000"/>
              </a:lnSpc>
              <a:spcBef>
                <a:spcPts val="0"/>
              </a:spcBef>
              <a:spcAft>
                <a:spcPts val="1423"/>
              </a:spcAft>
              <a:buChar char="•"/>
            </a:lvl4pPr>
            <a:lvl5pPr marL="1717000" indent="-271105">
              <a:lnSpc>
                <a:spcPct val="110000"/>
              </a:lnSpc>
              <a:spcBef>
                <a:spcPts val="0"/>
              </a:spcBef>
              <a:spcAft>
                <a:spcPts val="1423"/>
              </a:spcAft>
              <a:buChar char="•"/>
            </a:lvl5pPr>
            <a:lvl6pPr marL="2078474" indent="-271105">
              <a:lnSpc>
                <a:spcPct val="110000"/>
              </a:lnSpc>
              <a:spcBef>
                <a:spcPts val="0"/>
              </a:spcBef>
              <a:spcAft>
                <a:spcPts val="1423"/>
              </a:spcAft>
              <a:buChar char="•"/>
            </a:lvl6pPr>
            <a:lvl7pPr marL="2439948" indent="-271105">
              <a:lnSpc>
                <a:spcPct val="110000"/>
              </a:lnSpc>
              <a:spcBef>
                <a:spcPts val="0"/>
              </a:spcBef>
              <a:spcAft>
                <a:spcPts val="1423"/>
              </a:spcAft>
              <a:buChar char="•"/>
            </a:lvl7pPr>
            <a:lvl8pPr marL="2801422" indent="-271105">
              <a:lnSpc>
                <a:spcPct val="110000"/>
              </a:lnSpc>
              <a:spcBef>
                <a:spcPts val="0"/>
              </a:spcBef>
              <a:spcAft>
                <a:spcPts val="1423"/>
              </a:spcAft>
              <a:buChar char="•"/>
            </a:lvl8pPr>
            <a:lvl9pPr marL="3162895" indent="-271105">
              <a:lnSpc>
                <a:spcPct val="110000"/>
              </a:lnSpc>
              <a:spcBef>
                <a:spcPts val="0"/>
              </a:spcBef>
              <a:spcAft>
                <a:spcPts val="142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CCE9127-2F7C-4C30-BFD6-497CDA4389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3316" y="644525"/>
            <a:ext cx="12832318" cy="1012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91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8B75340-1F6C-49E7-86CD-A9F485F298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13316" y="2301875"/>
            <a:ext cx="5964317" cy="515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9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71105" indent="-271105">
              <a:lnSpc>
                <a:spcPct val="110000"/>
              </a:lnSpc>
              <a:spcBef>
                <a:spcPts val="0"/>
              </a:spcBef>
              <a:spcAft>
                <a:spcPts val="1423"/>
              </a:spcAft>
              <a:buChar char="•"/>
            </a:lvl1pPr>
            <a:lvl2pPr marL="632579" indent="-271105">
              <a:lnSpc>
                <a:spcPct val="110000"/>
              </a:lnSpc>
              <a:spcBef>
                <a:spcPts val="0"/>
              </a:spcBef>
              <a:spcAft>
                <a:spcPts val="1423"/>
              </a:spcAft>
              <a:buChar char="•"/>
            </a:lvl2pPr>
            <a:lvl3pPr marL="994053" indent="-271105">
              <a:lnSpc>
                <a:spcPct val="110000"/>
              </a:lnSpc>
              <a:spcBef>
                <a:spcPts val="0"/>
              </a:spcBef>
              <a:spcAft>
                <a:spcPts val="1423"/>
              </a:spcAft>
              <a:buChar char="•"/>
            </a:lvl3pPr>
            <a:lvl4pPr marL="1355527" indent="-271105">
              <a:lnSpc>
                <a:spcPct val="110000"/>
              </a:lnSpc>
              <a:spcBef>
                <a:spcPts val="0"/>
              </a:spcBef>
              <a:spcAft>
                <a:spcPts val="1423"/>
              </a:spcAft>
              <a:buChar char="•"/>
            </a:lvl4pPr>
            <a:lvl5pPr marL="1717000" indent="-271105">
              <a:lnSpc>
                <a:spcPct val="110000"/>
              </a:lnSpc>
              <a:spcBef>
                <a:spcPts val="0"/>
              </a:spcBef>
              <a:spcAft>
                <a:spcPts val="1423"/>
              </a:spcAft>
              <a:buChar char="•"/>
            </a:lvl5pPr>
            <a:lvl6pPr marL="2078474" indent="-271105">
              <a:lnSpc>
                <a:spcPct val="110000"/>
              </a:lnSpc>
              <a:spcBef>
                <a:spcPts val="0"/>
              </a:spcBef>
              <a:spcAft>
                <a:spcPts val="1423"/>
              </a:spcAft>
              <a:buChar char="•"/>
            </a:lvl6pPr>
            <a:lvl7pPr marL="2439948" indent="-271105">
              <a:lnSpc>
                <a:spcPct val="110000"/>
              </a:lnSpc>
              <a:spcBef>
                <a:spcPts val="0"/>
              </a:spcBef>
              <a:spcAft>
                <a:spcPts val="1423"/>
              </a:spcAft>
              <a:buChar char="•"/>
            </a:lvl7pPr>
            <a:lvl8pPr marL="2801422" indent="-271105">
              <a:lnSpc>
                <a:spcPct val="110000"/>
              </a:lnSpc>
              <a:spcBef>
                <a:spcPts val="0"/>
              </a:spcBef>
              <a:spcAft>
                <a:spcPts val="1423"/>
              </a:spcAft>
              <a:buChar char="•"/>
            </a:lvl8pPr>
            <a:lvl9pPr marL="3162895" indent="-271105">
              <a:lnSpc>
                <a:spcPct val="110000"/>
              </a:lnSpc>
              <a:spcBef>
                <a:spcPts val="0"/>
              </a:spcBef>
              <a:spcAft>
                <a:spcPts val="1423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78FD4BE-C37E-4EAE-879F-E6FCEB77C97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681317" y="2301875"/>
            <a:ext cx="5964317" cy="515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9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71105" indent="-271105">
              <a:lnSpc>
                <a:spcPct val="110000"/>
              </a:lnSpc>
              <a:spcBef>
                <a:spcPts val="0"/>
              </a:spcBef>
              <a:spcAft>
                <a:spcPts val="1423"/>
              </a:spcAft>
              <a:buChar char="•"/>
            </a:lvl1pPr>
            <a:lvl2pPr marL="632579" indent="-271105">
              <a:lnSpc>
                <a:spcPct val="110000"/>
              </a:lnSpc>
              <a:spcBef>
                <a:spcPts val="0"/>
              </a:spcBef>
              <a:spcAft>
                <a:spcPts val="1423"/>
              </a:spcAft>
              <a:buChar char="•"/>
            </a:lvl2pPr>
            <a:lvl3pPr marL="994053" indent="-271105">
              <a:lnSpc>
                <a:spcPct val="110000"/>
              </a:lnSpc>
              <a:spcBef>
                <a:spcPts val="0"/>
              </a:spcBef>
              <a:spcAft>
                <a:spcPts val="1423"/>
              </a:spcAft>
              <a:buChar char="•"/>
            </a:lvl3pPr>
            <a:lvl4pPr marL="1355527" indent="-271105">
              <a:lnSpc>
                <a:spcPct val="110000"/>
              </a:lnSpc>
              <a:spcBef>
                <a:spcPts val="0"/>
              </a:spcBef>
              <a:spcAft>
                <a:spcPts val="1423"/>
              </a:spcAft>
              <a:buChar char="•"/>
            </a:lvl4pPr>
            <a:lvl5pPr marL="1717000" indent="-271105">
              <a:lnSpc>
                <a:spcPct val="110000"/>
              </a:lnSpc>
              <a:spcBef>
                <a:spcPts val="0"/>
              </a:spcBef>
              <a:spcAft>
                <a:spcPts val="1423"/>
              </a:spcAft>
              <a:buChar char="•"/>
            </a:lvl5pPr>
            <a:lvl6pPr marL="2078474" indent="-271105">
              <a:lnSpc>
                <a:spcPct val="110000"/>
              </a:lnSpc>
              <a:spcBef>
                <a:spcPts val="0"/>
              </a:spcBef>
              <a:spcAft>
                <a:spcPts val="1423"/>
              </a:spcAft>
              <a:buChar char="•"/>
            </a:lvl6pPr>
            <a:lvl7pPr marL="2439948" indent="-271105">
              <a:lnSpc>
                <a:spcPct val="110000"/>
              </a:lnSpc>
              <a:spcBef>
                <a:spcPts val="0"/>
              </a:spcBef>
              <a:spcAft>
                <a:spcPts val="1423"/>
              </a:spcAft>
              <a:buChar char="•"/>
            </a:lvl7pPr>
            <a:lvl8pPr marL="2801422" indent="-271105">
              <a:lnSpc>
                <a:spcPct val="110000"/>
              </a:lnSpc>
              <a:spcBef>
                <a:spcPts val="0"/>
              </a:spcBef>
              <a:spcAft>
                <a:spcPts val="1423"/>
              </a:spcAft>
              <a:buChar char="•"/>
            </a:lvl8pPr>
            <a:lvl9pPr marL="3162895" indent="-271105">
              <a:lnSpc>
                <a:spcPct val="110000"/>
              </a:lnSpc>
              <a:spcBef>
                <a:spcPts val="0"/>
              </a:spcBef>
              <a:spcAft>
                <a:spcPts val="142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FF221CC-44A4-499E-9EC8-9626F7EE58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3316" y="644525"/>
            <a:ext cx="12832318" cy="1012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91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1467BF8-D55D-40B6-B9D9-C7292ED960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13316" y="2301875"/>
            <a:ext cx="5964317" cy="515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71105" indent="-271105">
              <a:lnSpc>
                <a:spcPct val="110000"/>
              </a:lnSpc>
              <a:spcBef>
                <a:spcPts val="0"/>
              </a:spcBef>
              <a:spcAft>
                <a:spcPts val="1423"/>
              </a:spcAft>
              <a:buChar char="•"/>
            </a:lvl1pPr>
            <a:lvl2pPr marL="632579" indent="-271105">
              <a:lnSpc>
                <a:spcPct val="110000"/>
              </a:lnSpc>
              <a:spcBef>
                <a:spcPts val="0"/>
              </a:spcBef>
              <a:spcAft>
                <a:spcPts val="1423"/>
              </a:spcAft>
              <a:buChar char="•"/>
            </a:lvl2pPr>
            <a:lvl3pPr marL="994053" indent="-271105">
              <a:lnSpc>
                <a:spcPct val="110000"/>
              </a:lnSpc>
              <a:spcBef>
                <a:spcPts val="0"/>
              </a:spcBef>
              <a:spcAft>
                <a:spcPts val="1423"/>
              </a:spcAft>
              <a:buChar char="•"/>
            </a:lvl3pPr>
            <a:lvl4pPr marL="1355527" indent="-271105">
              <a:lnSpc>
                <a:spcPct val="110000"/>
              </a:lnSpc>
              <a:spcBef>
                <a:spcPts val="0"/>
              </a:spcBef>
              <a:spcAft>
                <a:spcPts val="1423"/>
              </a:spcAft>
              <a:buChar char="•"/>
            </a:lvl4pPr>
            <a:lvl5pPr marL="1717000" indent="-271105">
              <a:lnSpc>
                <a:spcPct val="110000"/>
              </a:lnSpc>
              <a:spcBef>
                <a:spcPts val="0"/>
              </a:spcBef>
              <a:spcAft>
                <a:spcPts val="1423"/>
              </a:spcAft>
              <a:buChar char="•"/>
            </a:lvl5pPr>
            <a:lvl6pPr marL="2078474" indent="-271105">
              <a:lnSpc>
                <a:spcPct val="110000"/>
              </a:lnSpc>
              <a:spcBef>
                <a:spcPts val="0"/>
              </a:spcBef>
              <a:spcAft>
                <a:spcPts val="1423"/>
              </a:spcAft>
              <a:buChar char="•"/>
            </a:lvl6pPr>
            <a:lvl7pPr marL="2439948" indent="-271105">
              <a:lnSpc>
                <a:spcPct val="110000"/>
              </a:lnSpc>
              <a:spcBef>
                <a:spcPts val="0"/>
              </a:spcBef>
              <a:spcAft>
                <a:spcPts val="1423"/>
              </a:spcAft>
              <a:buChar char="•"/>
            </a:lvl7pPr>
            <a:lvl8pPr marL="2801422" indent="-271105">
              <a:lnSpc>
                <a:spcPct val="110000"/>
              </a:lnSpc>
              <a:spcBef>
                <a:spcPts val="0"/>
              </a:spcBef>
              <a:spcAft>
                <a:spcPts val="1423"/>
              </a:spcAft>
              <a:buChar char="•"/>
            </a:lvl8pPr>
            <a:lvl9pPr marL="3162895" indent="-271105">
              <a:lnSpc>
                <a:spcPct val="110000"/>
              </a:lnSpc>
              <a:spcBef>
                <a:spcPts val="0"/>
              </a:spcBef>
              <a:spcAft>
                <a:spcPts val="142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f76d1dbcca490e" /><Relationship Type="http://schemas.openxmlformats.org/officeDocument/2006/relationships/slideLayout" Target="/ppt/slideLayouts/slideLayout1.xml" Id="R0e143a099e4a4037" /><Relationship Type="http://schemas.openxmlformats.org/officeDocument/2006/relationships/slideLayout" Target="/ppt/slideLayouts/slideLayout2.xml" Id="R0a63967e31f740af" /><Relationship Type="http://schemas.openxmlformats.org/officeDocument/2006/relationships/slideLayout" Target="/ppt/slideLayouts/slideLayout3.xml" Id="R7282679e1d894d58" /><Relationship Type="http://schemas.openxmlformats.org/officeDocument/2006/relationships/slideLayout" Target="/ppt/slideLayouts/slideLayout4.xml" Id="R88294dc0f11a4ee4" /><Relationship Type="http://schemas.openxmlformats.org/officeDocument/2006/relationships/slideLayout" Target="/ppt/slideLayouts/slideLayout5.xml" Id="R617c238d1cd44601" /><Relationship Type="http://schemas.openxmlformats.org/officeDocument/2006/relationships/slideLayout" Target="/ppt/slideLayouts/slideLayout6.xml" Id="R35bd8bdc31ab4c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143a099e4a4037"/>
    <p:sldLayoutId xmlns:r="http://schemas.openxmlformats.org/officeDocument/2006/relationships" id="2147483650" r:id="R0a63967e31f740af"/>
    <p:sldLayoutId xmlns:r="http://schemas.openxmlformats.org/officeDocument/2006/relationships" id="2147483651" r:id="R7282679e1d894d58"/>
    <p:sldLayoutId xmlns:r="http://schemas.openxmlformats.org/officeDocument/2006/relationships" id="2147483652" r:id="R88294dc0f11a4ee4"/>
    <p:sldLayoutId xmlns:r="http://schemas.openxmlformats.org/officeDocument/2006/relationships" id="2147483653" r:id="R617c238d1cd44601"/>
    <p:sldLayoutId xmlns:r="http://schemas.openxmlformats.org/officeDocument/2006/relationships" id="2147483654" r:id="R35bd8bdc31ab4c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fe535e4c1e43e8" /><Relationship Type="http://schemas.openxmlformats.org/officeDocument/2006/relationships/notesSlide" Target="/ppt/notesSlides/notesSlide1.xml" Id="Rf564755474da4e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1FC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FA81056-9454-415C-8C18-59F0932C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"/>
            <a:ext cx="11811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450" b="1">
                <a:solidFill>
                  <a:srgbClr val="0B5C39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0B5C39"/>
                </a:solidFill>
                <a:latin typeface="Lato"/>
                <a:ea typeface="Lato"/>
                <a:cs typeface="Lato"/>
              </a:defRPr>
            </a:pPr>
            <a:r>
              <a:rPr sz="3450" b="1">
                <a:solidFill>
                  <a:srgbClr val="0B5C39"/>
                </a:solidFill>
                <a:latin typeface="Lato"/>
                <a:ea typeface="Lato"/>
                <a:cs typeface="Lato"/>
              </a:rPr>
              <a:t>Validation, Error Handling &amp; Retry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A11C37-3FF4-4297-8EAF-DE22C176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04925"/>
            <a:ext cx="1190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193A2B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93A2B"/>
                </a:solidFill>
                <a:latin typeface="Lato"/>
                <a:ea typeface="Lato"/>
                <a:cs typeface="Lato"/>
              </a:defRPr>
            </a:pPr>
            <a:r>
              <a:rPr sz="2025" b="1">
                <a:solidFill>
                  <a:srgbClr val="193A2B"/>
                </a:solidFill>
                <a:latin typeface="Lato"/>
                <a:ea typeface="Lato"/>
                <a:cs typeface="Lato"/>
              </a:rPr>
              <a:t>ClinSync checks access and workflow state before each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9D2A37-7642-4069-BAA6-9BA2FD66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94310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E0F1E6"/>
          </a:solidFill>
          <a:ln xmlns:a="http://schemas.openxmlformats.org/drawingml/2006/main" w="19050">
            <a:solidFill>
              <a:srgbClr val="16634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ADB645-0A66-4F97-926B-19B99B60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276475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75" b="1">
                <a:solidFill>
                  <a:srgbClr val="173D30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73D30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173D30"/>
                </a:solidFill>
                <a:latin typeface="Lato"/>
                <a:ea typeface="Lato"/>
                <a:cs typeface="Lato"/>
              </a:rPr>
              <a:t>Ordered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50AE2-2F87-43FA-AF22-DCDDAA7F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574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340"/>
          </a:solidFill>
          <a:ln xmlns:a="http://schemas.openxmlformats.org/drawingml/2006/main" w="19050">
            <a:solidFill>
              <a:srgbClr val="16634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139A93-ADAE-43C4-98C5-4C4A6D29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71700"/>
            <a:ext cx="194310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E0F1E6"/>
          </a:solidFill>
          <a:ln xmlns:a="http://schemas.openxmlformats.org/drawingml/2006/main" w="19050">
            <a:solidFill>
              <a:srgbClr val="16634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3DB1CE-7421-4096-89D2-68339396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276475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75" b="1">
                <a:solidFill>
                  <a:srgbClr val="173D30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73D30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173D30"/>
                </a:solidFill>
                <a:latin typeface="Lato"/>
                <a:ea typeface="Lato"/>
                <a:cs typeface="Lato"/>
              </a:rPr>
              <a:t>Received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3B3B2E-38CE-46CE-B5E0-220C8647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574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340"/>
          </a:solidFill>
          <a:ln xmlns:a="http://schemas.openxmlformats.org/drawingml/2006/main" w="19050">
            <a:solidFill>
              <a:srgbClr val="16634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FD73C0-0093-48F1-A2E5-4B813F16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71700"/>
            <a:ext cx="194310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E0F1E6"/>
          </a:solidFill>
          <a:ln xmlns:a="http://schemas.openxmlformats.org/drawingml/2006/main" w="19050">
            <a:solidFill>
              <a:srgbClr val="16634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6CB438-E95F-4C4B-99F1-BF044ABC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276475"/>
            <a:ext cx="17716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650" b="1">
                <a:solidFill>
                  <a:srgbClr val="173D30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3D30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173D30"/>
                </a:solidFill>
                <a:latin typeface="Lato"/>
                <a:ea typeface="Lato"/>
                <a:cs typeface="Lato"/>
              </a:rPr>
              <a:t>Sample collected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0C6A54-2A03-48B8-AE48-50C42FD2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574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340"/>
          </a:solidFill>
          <a:ln xmlns:a="http://schemas.openxmlformats.org/drawingml/2006/main" w="19050">
            <a:solidFill>
              <a:srgbClr val="16634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C7A5DC-B283-4AC5-92D0-4AC1A9EC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71700"/>
            <a:ext cx="194310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E0F1E6"/>
          </a:solidFill>
          <a:ln xmlns:a="http://schemas.openxmlformats.org/drawingml/2006/main" w="19050">
            <a:solidFill>
              <a:srgbClr val="16634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29A7C0-3C27-4371-A717-C6F54F17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276475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75" b="1">
                <a:solidFill>
                  <a:srgbClr val="173D30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73D30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173D30"/>
                </a:solidFill>
                <a:latin typeface="Lato"/>
                <a:ea typeface="Lato"/>
                <a:cs typeface="Lato"/>
              </a:rPr>
              <a:t>Processing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0C58B0-53DF-4EA1-A33D-0626AF8D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574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340"/>
          </a:solidFill>
          <a:ln xmlns:a="http://schemas.openxmlformats.org/drawingml/2006/main" w="19050">
            <a:solidFill>
              <a:srgbClr val="16634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5F221C-4DE9-480F-AECE-97BC94E4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71700"/>
            <a:ext cx="194310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E0F1E6"/>
          </a:solidFill>
          <a:ln xmlns:a="http://schemas.openxmlformats.org/drawingml/2006/main" w="19050">
            <a:solidFill>
              <a:srgbClr val="16634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996B63-B527-49BF-A7C6-8AA5C40D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171700"/>
            <a:ext cx="17716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650" b="1">
                <a:solidFill>
                  <a:srgbClr val="173D30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3D30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173D30"/>
                </a:solidFill>
                <a:latin typeface="Lato"/>
                <a:ea typeface="Lato"/>
                <a:cs typeface="Lato"/>
              </a:rPr>
              <a:t>Awaiting verification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BA5667-42AE-4CE1-BD8A-EF4DA166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24574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340"/>
          </a:solidFill>
          <a:ln xmlns:a="http://schemas.openxmlformats.org/drawingml/2006/main" w="19050">
            <a:solidFill>
              <a:srgbClr val="16634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593EC8-68CE-43B8-A26B-126F861F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2171700"/>
            <a:ext cx="194310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0C613B"/>
          </a:solidFill>
          <a:ln xmlns:a="http://schemas.openxmlformats.org/drawingml/2006/main" w="19050">
            <a:solidFill>
              <a:srgbClr val="16634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CA35EE-B246-4E05-BD00-113DF77A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2276475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FFFFFF"/>
                </a:solidFill>
                <a:latin typeface="Lato"/>
                <a:ea typeface="Lato"/>
                <a:cs typeface="Lato"/>
              </a:rPr>
              <a:t>Completed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FE4A20-6703-486C-B03D-028B54B0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67025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0">
                <a:solidFill>
                  <a:srgbClr val="43614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43614F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43614F"/>
                </a:solidFill>
                <a:latin typeface="Lato"/>
                <a:ea typeface="Lato"/>
                <a:cs typeface="Lato"/>
              </a:rPr>
              <a:t>Technician assignment marks receipt by LIS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5509AB-428C-4944-9593-55CA7496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61531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E0F1EE"/>
          </a:solidFill>
          <a:ln xmlns:a="http://schemas.openxmlformats.org/drawingml/2006/main" w="19050">
            <a:solidFill>
              <a:srgbClr val="26918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62063C-60EB-4AB9-83F8-2AE5C09E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67125"/>
            <a:ext cx="561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700" b="0">
                <a:solidFill>
                  <a:srgbClr val="153E30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defRPr sz="2700" b="0">
                <a:solidFill>
                  <a:srgbClr val="153E30"/>
                </a:solidFill>
                <a:latin typeface="Lato"/>
                <a:ea typeface="Lato"/>
                <a:cs typeface="Lato"/>
              </a:defRPr>
            </a:pPr>
            <a:r>
              <a:rPr sz="2700" b="0">
                <a:solidFill>
                  <a:srgbClr val="153E30"/>
                </a:solidFill>
                <a:latin typeface="Lato"/>
                <a:ea typeface="Lato"/>
                <a:cs typeface="Lato"/>
              </a:rPr>
              <a:t>Validation checks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64B175-7034-4EF7-9954-B7A7CF3D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5572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173D30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3D30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173D30"/>
                </a:solidFill>
                <a:latin typeface="Lato"/>
                <a:ea typeface="Lato"/>
                <a:cs typeface="Lato"/>
              </a:rPr>
              <a:t>Patient and visit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59E81A-A7C1-4314-A135-10111399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33900"/>
            <a:ext cx="557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>
                <a:solidFill>
                  <a:srgbClr val="345547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345547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345547"/>
                </a:solidFill>
                <a:latin typeface="Lato"/>
                <a:ea typeface="Lato"/>
                <a:cs typeface="Lato"/>
              </a:rPr>
              <a:t>Valid patient record and an active visit for orders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96FD0A-F41D-4D85-8194-A9B6F4D2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81550"/>
            <a:ext cx="5572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173D30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3D30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173D30"/>
                </a:solidFill>
                <a:latin typeface="Lato"/>
                <a:ea typeface="Lato"/>
                <a:cs typeface="Lato"/>
              </a:rPr>
              <a:t>Staff access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3DDD9B-664A-40C9-9A8F-085646D5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29200"/>
            <a:ext cx="557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>
                <a:solidFill>
                  <a:srgbClr val="345547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345547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345547"/>
                </a:solidFill>
                <a:latin typeface="Lato"/>
                <a:ea typeface="Lato"/>
                <a:cs typeface="Lato"/>
              </a:rPr>
              <a:t>Assigned doctor, technician and reviewer permissions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D803A4-3895-4CE8-9968-D341CCC1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76850"/>
            <a:ext cx="5572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173D30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3D30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173D30"/>
                </a:solidFill>
                <a:latin typeface="Lato"/>
                <a:ea typeface="Lato"/>
                <a:cs typeface="Lato"/>
              </a:rPr>
              <a:t>Test selection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2C87D8-C59B-4A9B-8B70-9A42E029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557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>
                <a:solidFill>
                  <a:srgbClr val="345547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345547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345547"/>
                </a:solidFill>
                <a:latin typeface="Lato"/>
                <a:ea typeface="Lato"/>
                <a:cs typeface="Lato"/>
              </a:rPr>
              <a:t>Valid catalogue tests and no repeated selections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FC06C7-F25C-421A-BA91-5F356184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72150"/>
            <a:ext cx="5572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173D30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3D30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173D30"/>
                </a:solidFill>
                <a:latin typeface="Lato"/>
                <a:ea typeface="Lato"/>
                <a:cs typeface="Lato"/>
              </a:rPr>
              <a:t>Workflow state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3E6AC1-8F89-4FB8-8C11-F8402459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19800"/>
            <a:ext cx="557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>
                <a:solidFill>
                  <a:srgbClr val="345547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345547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345547"/>
                </a:solidFill>
                <a:latin typeface="Lato"/>
                <a:ea typeface="Lato"/>
                <a:cs typeface="Lato"/>
              </a:rPr>
              <a:t>Collection, processing and review in the correct order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943423-B8D3-42BE-B633-7B4BA234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67450"/>
            <a:ext cx="5572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173D30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3D30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173D30"/>
                </a:solidFill>
                <a:latin typeface="Lato"/>
                <a:ea typeface="Lato"/>
                <a:cs typeface="Lato"/>
              </a:rPr>
              <a:t>Duplicate protection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7565FD-52FC-4835-983C-95E4608F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515100"/>
            <a:ext cx="557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>
                <a:solidFill>
                  <a:srgbClr val="345547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345547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345547"/>
                </a:solidFill>
                <a:latin typeface="Lato"/>
                <a:ea typeface="Lato"/>
                <a:cs typeface="Lato"/>
              </a:rPr>
              <a:t>Blocks duplicate samples and analyser runs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248FCC-3C2D-4ADB-B644-E0959A69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762750"/>
            <a:ext cx="5572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173D30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3D30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173D30"/>
                </a:solidFill>
                <a:latin typeface="Lato"/>
                <a:ea typeface="Lato"/>
                <a:cs typeface="Lato"/>
              </a:rPr>
              <a:t>Required information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944264-B043-417F-987C-727865E1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10400"/>
            <a:ext cx="557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>
                <a:solidFill>
                  <a:srgbClr val="345547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345547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345547"/>
                </a:solidFill>
                <a:latin typeface="Lato"/>
                <a:ea typeface="Lato"/>
                <a:cs typeface="Lato"/>
              </a:rPr>
              <a:t>Reasons for rejection, hold, rerun and cancellation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4E785D-009D-43F3-A4DA-98061CCB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76625"/>
            <a:ext cx="6534150" cy="1647825"/>
          </a:xfrm>
          <a:prstGeom xmlns:a="http://schemas.openxmlformats.org/drawingml/2006/main" prst="roundRect">
            <a:avLst>
              <a:gd name="adj" fmla="val 4624"/>
            </a:avLst>
          </a:prstGeom>
          <a:solidFill xmlns:a="http://schemas.openxmlformats.org/drawingml/2006/main">
            <a:srgbClr val="D4E8CB"/>
          </a:solidFill>
          <a:ln xmlns:a="http://schemas.openxmlformats.org/drawingml/2006/main" w="19050">
            <a:solidFill>
              <a:srgbClr val="99755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787C7D4-68AB-407F-8D9D-7753A954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67125"/>
            <a:ext cx="601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173D30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73D30"/>
                </a:solidFill>
                <a:latin typeface="Lato"/>
                <a:ea typeface="Lato"/>
                <a:cs typeface="Lato"/>
              </a:defRPr>
            </a:pPr>
            <a:r>
              <a:rPr sz="2325" b="1">
                <a:solidFill>
                  <a:srgbClr val="173D30"/>
                </a:solidFill>
                <a:latin typeface="Lato"/>
                <a:ea typeface="Lato"/>
                <a:cs typeface="Lato"/>
              </a:rPr>
              <a:t>Cancelled: before analysis starts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A2CAB4-99AB-4D42-A99F-54D85C9E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81475"/>
            <a:ext cx="60198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173D30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73D30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73D30"/>
                </a:solidFill>
                <a:latin typeface="Lato"/>
                <a:ea typeface="Lato"/>
                <a:cs typeface="Lato"/>
              </a:rPr>
              <a:t>The ordering doctor records a reason, including when a</a:t>
            </a:r>
          </a:p>
          <a:p xmlns:a="http://schemas.openxmlformats.org/drawingml/2006/main">
            <a:pPr algn="l">
              <a:defRPr sz="1725" b="0">
                <a:solidFill>
                  <a:srgbClr val="173D30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73D30"/>
                </a:solidFill>
                <a:latin typeface="Lato"/>
                <a:ea typeface="Lato"/>
                <a:cs typeface="Lato"/>
              </a:rPr>
              <a:t>sample will not be recollected. Cancellation blocks further</a:t>
            </a:r>
          </a:p>
          <a:p xmlns:a="http://schemas.openxmlformats.org/drawingml/2006/main">
            <a:pPr algn="l">
              <a:defRPr sz="1725" b="0">
                <a:solidFill>
                  <a:srgbClr val="173D30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73D30"/>
                </a:solidFill>
                <a:latin typeface="Lato"/>
                <a:ea typeface="Lato"/>
                <a:cs typeface="Lato"/>
              </a:rPr>
              <a:t>lab actions and keeps the order in the patient record.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9A4295-4F49-4013-B0EC-0FD61057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38750"/>
            <a:ext cx="65341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D4E8CB"/>
          </a:solidFill>
          <a:ln xmlns:a="http://schemas.openxmlformats.org/drawingml/2006/main" w="19050">
            <a:solidFill>
              <a:srgbClr val="99755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C20CB6-4A8F-4F4E-A815-29BF6766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42925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0">
                <a:solidFill>
                  <a:srgbClr val="173D30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173D30"/>
                </a:solidFill>
                <a:latin typeface="Lato"/>
                <a:ea typeface="Lato"/>
                <a:cs typeface="Lato"/>
              </a:defRPr>
            </a:pPr>
            <a:r>
              <a:rPr sz="2550" b="0">
                <a:solidFill>
                  <a:srgbClr val="173D30"/>
                </a:solidFill>
                <a:latin typeface="Lato"/>
                <a:ea typeface="Lato"/>
                <a:cs typeface="Lato"/>
              </a:rPr>
              <a:t>Exception handling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D92F8E5-05AB-4F4A-89B4-79EF7CCF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962650"/>
            <a:ext cx="600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173D30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73D30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73D30"/>
                </a:solidFill>
                <a:latin typeface="Lato"/>
                <a:ea typeface="Lato"/>
                <a:cs typeface="Lato"/>
              </a:rPr>
              <a:t>Rejected sample: record reason and collect again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2E324D5-311F-46BA-81B1-81A67737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276975"/>
            <a:ext cx="600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173D30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73D30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73D30"/>
                </a:solidFill>
                <a:latin typeface="Lato"/>
                <a:ea typeface="Lato"/>
                <a:cs typeface="Lato"/>
              </a:rPr>
              <a:t>Held result: pathologist records a reason for review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D47B8B5-4848-40C3-B7EE-532E2F1C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591300"/>
            <a:ext cx="600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173D30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73D30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73D30"/>
                </a:solidFill>
                <a:latin typeface="Lato"/>
                <a:ea typeface="Lato"/>
                <a:cs typeface="Lato"/>
              </a:rPr>
              <a:t>Rerun: repeat analysis and preserve earlier runs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9432792-B7BD-42CA-8B6E-B93BEFD3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905625"/>
            <a:ext cx="600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173D30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73D30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73D30"/>
                </a:solidFill>
                <a:latin typeface="Lato"/>
                <a:ea typeface="Lato"/>
                <a:cs typeface="Lato"/>
              </a:rPr>
              <a:t>API failure: show an error so staff can retry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64BCF8A-4874-4DEF-88DD-A2A33173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715250"/>
            <a:ext cx="13049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>
                <a:solidFill>
                  <a:srgbClr val="43614F"/>
                </a:solidFill>
                <a:latin typeface="Lato"/>
                <a:ea typeface="Lato"/>
                <a:cs typeface="Lat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43614F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43614F"/>
                </a:solidFill>
                <a:latin typeface="Lato"/>
                <a:ea typeface="Lato"/>
                <a:cs typeface="Lato"/>
              </a:rPr>
              <a:t>Audit records capture key lab actions and cancellation reasons. Pathologist approval releases reports.</a:t>
            </a:r>
          </a:p>
        </p:txBody>
      </p:sp>
    </p:spTree>
    <p:extLst>
      <p:ext uri="{BB962C8B-B14F-4D97-AF65-F5344CB8AC3E}">
        <p14:creationId xmlns:p14="http://schemas.microsoft.com/office/powerpoint/2010/main" val="19943600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2026-10-15T21:19:01.8490000Z</dcterms:created>
  <dcterms:modified xsi:type="dcterms:W3CDTF">2026-10-15T21:19:01.8490000Z</dcterms:modified>
</coreProperties>
</file>