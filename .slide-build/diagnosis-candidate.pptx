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c28cec74374616" /><Relationship Type="http://schemas.openxmlformats.org/officeDocument/2006/relationships/extended-properties" Target="/docProps/app.xml" Id="Re75c546f339a4102" /><Relationship Type="http://schemas.openxmlformats.org/officeDocument/2006/relationships/officeDocument" Target="/ppt/presentation.xml" Id="R93a28f88e70c4204" /></Relationships>
</file>

<file path=ppt/presentation.xml><?xml version="1.0" encoding="utf-8"?>
<p:presentation xmlns:p="http://schemas.openxmlformats.org/presentationml/2006/main">
  <p:sldMasterIdLst>
    <p:sldMasterId xmlns:r="http://schemas.openxmlformats.org/officeDocument/2006/relationships" id="2147483648" r:id="R8a11f5f984eb491e"/>
  </p:sldMasterIdLst>
  <p:notesMasterIdLst>
    <p:notesMasterId xmlns:r="http://schemas.openxmlformats.org/officeDocument/2006/relationships" r:id="Re0c9c96e87214dd5"/>
  </p:notesMasterIdLst>
  <p:sldIdLst>
    <p:sldId xmlns:r="http://schemas.openxmlformats.org/officeDocument/2006/relationships" id="256" r:id="R7957d5d1b8ef4c19"/>
  </p:sldIdLst>
  <p:sldSz cx="14697075" cy="79819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4ce7d313e14b03" /><Relationship Type="http://schemas.openxmlformats.org/officeDocument/2006/relationships/slideMaster" Target="/ppt/slideMasters/slideMaster1.xml" Id="R8a11f5f984eb491e" /><Relationship Type="http://schemas.openxmlformats.org/officeDocument/2006/relationships/notesMaster" Target="/ppt/notesMasters/notesMaster1.xml" Id="Re0c9c96e87214dd5" /><Relationship Type="http://schemas.openxmlformats.org/officeDocument/2006/relationships/presProps" Target="/ppt/presProps.xml" Id="R330daa92eda14097" /><Relationship Type="http://schemas.openxmlformats.org/officeDocument/2006/relationships/tableStyles" Target="/ppt/tableStyles.xml" Id="Ra226eb33f7924b05" /><Relationship Type="http://schemas.openxmlformats.org/officeDocument/2006/relationships/slide" Target="/ppt/slides/slide1.xml" Id="R7957d5d1b8ef4c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3b30e84c044a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76e18fdc044164" /><Relationship Type="http://schemas.openxmlformats.org/officeDocument/2006/relationships/notesMaster" Target="/ppt/notesMasters/notesMaster1.xml" Id="Ra39acbf7062e4e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ClinSync feature, sourced from frontend/src/data/diagnosisPanels.ts, frontend/src/data/loinc.ts and LabOrdersTab in frontend/src/pages/doctor/index.tsx. The dropdown is optional and does not persist an ICD-10 diagnosis to the patient record or order. Add suggested tests adds catalogue IDs without duplicating or clearing existing choices. The doctor confirms with Create Order. The LOINC values here are displayed order-catalogue references; the current order API submits catalogue IDs, not a coded ICD-10-to-LOINC payload, and does not expand panels into individually coded observations. Each of the four shortcuts currently contains one catalogue entry. Reference image supplied by the user; recreated with editable text, workflow and native table. LOINC references: https://loinc.org/1558-6/ ; https://loinc.org/58410-2/ ; https://loinc.org/3016-3/ ; https://loinc.org/24331-1/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eaa34d920940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112df2d5384a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7f7ca1909945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70f91a34454e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00744c064345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84429f65a442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4F869F-BE4C-4EC2-BC6E-B91F72464E80}"/>
              </a:ext>
            </a:extLst>
          </p:cNvPr>
          <p:cNvSpPr>
            <a:spLocks xmlns:a="http://schemas.openxmlformats.org/drawingml/2006/main" noGrp="1"/>
          </p:cNvSpPr>
          <p:nvPr>
            <p:ph type="title" idx="0"/>
          </p:nvPr>
        </p:nvSpPr>
        <p:spPr>
          <a:xfrm xmlns:a="http://schemas.openxmlformats.org/drawingml/2006/main">
            <a:off x="1469708" y="3015403"/>
            <a:ext cx="11757660" cy="115294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587"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90204B-A7BF-440E-A91C-7DA0C2A4BEA5}"/>
              </a:ext>
            </a:extLst>
          </p:cNvPr>
          <p:cNvSpPr>
            <a:spLocks xmlns:a="http://schemas.openxmlformats.org/drawingml/2006/main" noGrp="1"/>
          </p:cNvSpPr>
          <p:nvPr>
            <p:ph type="subTitle" idx="1"/>
          </p:nvPr>
        </p:nvSpPr>
        <p:spPr>
          <a:xfrm xmlns:a="http://schemas.openxmlformats.org/drawingml/2006/main">
            <a:off x="2204561" y="4390073"/>
            <a:ext cx="10287953" cy="88688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444"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870BE6-B542-4DE7-AD03-917C530F56D5}"/>
              </a:ext>
            </a:extLst>
          </p:cNvPr>
          <p:cNvSpPr>
            <a:spLocks xmlns:a="http://schemas.openxmlformats.org/drawingml/2006/main" noGrp="1"/>
          </p:cNvSpPr>
          <p:nvPr>
            <p:ph type="title" idx="0"/>
          </p:nvPr>
        </p:nvSpPr>
        <p:spPr>
          <a:xfrm xmlns:a="http://schemas.openxmlformats.org/drawingml/2006/main">
            <a:off x="1469708" y="3325813"/>
            <a:ext cx="11757660" cy="13303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B74D16-3765-48C7-8A88-7BEC0F926941}"/>
              </a:ext>
            </a:extLst>
          </p:cNvPr>
          <p:cNvSpPr>
            <a:spLocks xmlns:a="http://schemas.openxmlformats.org/drawingml/2006/main" noGrp="1"/>
          </p:cNvSpPr>
          <p:nvPr>
            <p:ph type="title" idx="0"/>
          </p:nvPr>
        </p:nvSpPr>
        <p:spPr>
          <a:xfrm xmlns:a="http://schemas.openxmlformats.org/drawingml/2006/main">
            <a:off x="826710" y="620818"/>
            <a:ext cx="13043654" cy="97557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4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951178-C172-464F-A0B0-6B5FDD4F834F}"/>
              </a:ext>
            </a:extLst>
          </p:cNvPr>
          <p:cNvSpPr>
            <a:spLocks xmlns:a="http://schemas.openxmlformats.org/drawingml/2006/main" noGrp="1"/>
          </p:cNvSpPr>
          <p:nvPr>
            <p:ph type="body" idx="1"/>
          </p:nvPr>
        </p:nvSpPr>
        <p:spPr>
          <a:xfrm xmlns:a="http://schemas.openxmlformats.org/drawingml/2006/main">
            <a:off x="826710" y="2217208"/>
            <a:ext cx="13043654" cy="49665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19" b="0">
                <a:solidFill>
                  <a:schemeClr val="tx1"/>
                </a:solidFill>
                <a:latin typeface="+mn-lt"/>
                <a:ea typeface="+mn-lt"/>
                <a:cs typeface="+mn-lt"/>
              </a:defRPr>
            </a:defPPr>
            <a:lvl1pPr marL="266065" indent="-266065">
              <a:lnSpc>
                <a:spcPct val="110000"/>
              </a:lnSpc>
              <a:spcBef>
                <a:spcPts val="0"/>
              </a:spcBef>
              <a:spcAft>
                <a:spcPts val="1397"/>
              </a:spcAft>
              <a:buChar char="•"/>
            </a:lvl1pPr>
            <a:lvl2pPr marL="620818" indent="-266065">
              <a:lnSpc>
                <a:spcPct val="110000"/>
              </a:lnSpc>
              <a:spcBef>
                <a:spcPts val="0"/>
              </a:spcBef>
              <a:spcAft>
                <a:spcPts val="1397"/>
              </a:spcAft>
              <a:buChar char="•"/>
            </a:lvl2pPr>
            <a:lvl3pPr marL="975572" indent="-266065">
              <a:lnSpc>
                <a:spcPct val="110000"/>
              </a:lnSpc>
              <a:spcBef>
                <a:spcPts val="0"/>
              </a:spcBef>
              <a:spcAft>
                <a:spcPts val="1397"/>
              </a:spcAft>
              <a:buChar char="•"/>
            </a:lvl3pPr>
            <a:lvl4pPr marL="1330325" indent="-266065">
              <a:lnSpc>
                <a:spcPct val="110000"/>
              </a:lnSpc>
              <a:spcBef>
                <a:spcPts val="0"/>
              </a:spcBef>
              <a:spcAft>
                <a:spcPts val="1397"/>
              </a:spcAft>
              <a:buChar char="•"/>
            </a:lvl4pPr>
            <a:lvl5pPr marL="1685078" indent="-266065">
              <a:lnSpc>
                <a:spcPct val="110000"/>
              </a:lnSpc>
              <a:spcBef>
                <a:spcPts val="0"/>
              </a:spcBef>
              <a:spcAft>
                <a:spcPts val="1397"/>
              </a:spcAft>
              <a:buChar char="•"/>
            </a:lvl5pPr>
            <a:lvl6pPr marL="2039832" indent="-266065">
              <a:lnSpc>
                <a:spcPct val="110000"/>
              </a:lnSpc>
              <a:spcBef>
                <a:spcPts val="0"/>
              </a:spcBef>
              <a:spcAft>
                <a:spcPts val="1397"/>
              </a:spcAft>
              <a:buChar char="•"/>
            </a:lvl6pPr>
            <a:lvl7pPr marL="2394585" indent="-266065">
              <a:lnSpc>
                <a:spcPct val="110000"/>
              </a:lnSpc>
              <a:spcBef>
                <a:spcPts val="0"/>
              </a:spcBef>
              <a:spcAft>
                <a:spcPts val="1397"/>
              </a:spcAft>
              <a:buChar char="•"/>
            </a:lvl7pPr>
            <a:lvl8pPr marL="2749338" indent="-266065">
              <a:lnSpc>
                <a:spcPct val="110000"/>
              </a:lnSpc>
              <a:spcBef>
                <a:spcPts val="0"/>
              </a:spcBef>
              <a:spcAft>
                <a:spcPts val="1397"/>
              </a:spcAft>
              <a:buChar char="•"/>
            </a:lvl8pPr>
            <a:lvl9pPr marL="3104092" indent="-266065">
              <a:lnSpc>
                <a:spcPct val="110000"/>
              </a:lnSpc>
              <a:spcBef>
                <a:spcPts val="0"/>
              </a:spcBef>
              <a:spcAft>
                <a:spcPts val="1397"/>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496E84-7D4D-44E5-BAD0-66DEBFA57CF1}"/>
              </a:ext>
            </a:extLst>
          </p:cNvPr>
          <p:cNvSpPr>
            <a:spLocks xmlns:a="http://schemas.openxmlformats.org/drawingml/2006/main" noGrp="1"/>
          </p:cNvSpPr>
          <p:nvPr>
            <p:ph type="title" idx="0"/>
          </p:nvPr>
        </p:nvSpPr>
        <p:spPr>
          <a:xfrm xmlns:a="http://schemas.openxmlformats.org/drawingml/2006/main">
            <a:off x="826710" y="620818"/>
            <a:ext cx="13043654" cy="97557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4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6D23C2-3E15-406B-A62D-930685387E88}"/>
              </a:ext>
            </a:extLst>
          </p:cNvPr>
          <p:cNvSpPr>
            <a:spLocks xmlns:a="http://schemas.openxmlformats.org/drawingml/2006/main" noGrp="1"/>
          </p:cNvSpPr>
          <p:nvPr>
            <p:ph type="body" idx="1"/>
          </p:nvPr>
        </p:nvSpPr>
        <p:spPr>
          <a:xfrm xmlns:a="http://schemas.openxmlformats.org/drawingml/2006/main">
            <a:off x="826710" y="2217208"/>
            <a:ext cx="6062543" cy="49665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44" b="0">
                <a:solidFill>
                  <a:schemeClr val="tx1"/>
                </a:solidFill>
                <a:latin typeface="+mn-lt"/>
                <a:ea typeface="+mn-lt"/>
                <a:cs typeface="+mn-lt"/>
              </a:defRPr>
            </a:defPPr>
            <a:lvl1pPr marL="266065" indent="-266065">
              <a:lnSpc>
                <a:spcPct val="110000"/>
              </a:lnSpc>
              <a:spcBef>
                <a:spcPts val="0"/>
              </a:spcBef>
              <a:spcAft>
                <a:spcPts val="1397"/>
              </a:spcAft>
              <a:buChar char="•"/>
            </a:lvl1pPr>
            <a:lvl2pPr marL="620818" indent="-266065">
              <a:lnSpc>
                <a:spcPct val="110000"/>
              </a:lnSpc>
              <a:spcBef>
                <a:spcPts val="0"/>
              </a:spcBef>
              <a:spcAft>
                <a:spcPts val="1397"/>
              </a:spcAft>
              <a:buChar char="•"/>
            </a:lvl2pPr>
            <a:lvl3pPr marL="975572" indent="-266065">
              <a:lnSpc>
                <a:spcPct val="110000"/>
              </a:lnSpc>
              <a:spcBef>
                <a:spcPts val="0"/>
              </a:spcBef>
              <a:spcAft>
                <a:spcPts val="1397"/>
              </a:spcAft>
              <a:buChar char="•"/>
            </a:lvl3pPr>
            <a:lvl4pPr marL="1330325" indent="-266065">
              <a:lnSpc>
                <a:spcPct val="110000"/>
              </a:lnSpc>
              <a:spcBef>
                <a:spcPts val="0"/>
              </a:spcBef>
              <a:spcAft>
                <a:spcPts val="1397"/>
              </a:spcAft>
              <a:buChar char="•"/>
            </a:lvl4pPr>
            <a:lvl5pPr marL="1685078" indent="-266065">
              <a:lnSpc>
                <a:spcPct val="110000"/>
              </a:lnSpc>
              <a:spcBef>
                <a:spcPts val="0"/>
              </a:spcBef>
              <a:spcAft>
                <a:spcPts val="1397"/>
              </a:spcAft>
              <a:buChar char="•"/>
            </a:lvl5pPr>
            <a:lvl6pPr marL="2039832" indent="-266065">
              <a:lnSpc>
                <a:spcPct val="110000"/>
              </a:lnSpc>
              <a:spcBef>
                <a:spcPts val="0"/>
              </a:spcBef>
              <a:spcAft>
                <a:spcPts val="1397"/>
              </a:spcAft>
              <a:buChar char="•"/>
            </a:lvl6pPr>
            <a:lvl7pPr marL="2394585" indent="-266065">
              <a:lnSpc>
                <a:spcPct val="110000"/>
              </a:lnSpc>
              <a:spcBef>
                <a:spcPts val="0"/>
              </a:spcBef>
              <a:spcAft>
                <a:spcPts val="1397"/>
              </a:spcAft>
              <a:buChar char="•"/>
            </a:lvl7pPr>
            <a:lvl8pPr marL="2749338" indent="-266065">
              <a:lnSpc>
                <a:spcPct val="110000"/>
              </a:lnSpc>
              <a:spcBef>
                <a:spcPts val="0"/>
              </a:spcBef>
              <a:spcAft>
                <a:spcPts val="1397"/>
              </a:spcAft>
              <a:buChar char="•"/>
            </a:lvl8pPr>
            <a:lvl9pPr marL="3104092" indent="-266065">
              <a:lnSpc>
                <a:spcPct val="110000"/>
              </a:lnSpc>
              <a:spcBef>
                <a:spcPts val="0"/>
              </a:spcBef>
              <a:spcAft>
                <a:spcPts val="1397"/>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118012-456F-4B9A-B72D-9CF509CF430F}"/>
              </a:ext>
            </a:extLst>
          </p:cNvPr>
          <p:cNvSpPr>
            <a:spLocks xmlns:a="http://schemas.openxmlformats.org/drawingml/2006/main" noGrp="1"/>
          </p:cNvSpPr>
          <p:nvPr>
            <p:ph type="body" idx="2"/>
          </p:nvPr>
        </p:nvSpPr>
        <p:spPr>
          <a:xfrm xmlns:a="http://schemas.openxmlformats.org/drawingml/2006/main">
            <a:off x="7807821" y="2217208"/>
            <a:ext cx="6062543" cy="49665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44" b="0">
                <a:solidFill>
                  <a:schemeClr val="tx1"/>
                </a:solidFill>
                <a:latin typeface="+mn-lt"/>
                <a:ea typeface="+mn-lt"/>
                <a:cs typeface="+mn-lt"/>
              </a:defRPr>
            </a:defPPr>
            <a:lvl1pPr marL="266065" indent="-266065">
              <a:lnSpc>
                <a:spcPct val="110000"/>
              </a:lnSpc>
              <a:spcBef>
                <a:spcPts val="0"/>
              </a:spcBef>
              <a:spcAft>
                <a:spcPts val="1397"/>
              </a:spcAft>
              <a:buChar char="•"/>
            </a:lvl1pPr>
            <a:lvl2pPr marL="620818" indent="-266065">
              <a:lnSpc>
                <a:spcPct val="110000"/>
              </a:lnSpc>
              <a:spcBef>
                <a:spcPts val="0"/>
              </a:spcBef>
              <a:spcAft>
                <a:spcPts val="1397"/>
              </a:spcAft>
              <a:buChar char="•"/>
            </a:lvl2pPr>
            <a:lvl3pPr marL="975572" indent="-266065">
              <a:lnSpc>
                <a:spcPct val="110000"/>
              </a:lnSpc>
              <a:spcBef>
                <a:spcPts val="0"/>
              </a:spcBef>
              <a:spcAft>
                <a:spcPts val="1397"/>
              </a:spcAft>
              <a:buChar char="•"/>
            </a:lvl3pPr>
            <a:lvl4pPr marL="1330325" indent="-266065">
              <a:lnSpc>
                <a:spcPct val="110000"/>
              </a:lnSpc>
              <a:spcBef>
                <a:spcPts val="0"/>
              </a:spcBef>
              <a:spcAft>
                <a:spcPts val="1397"/>
              </a:spcAft>
              <a:buChar char="•"/>
            </a:lvl4pPr>
            <a:lvl5pPr marL="1685078" indent="-266065">
              <a:lnSpc>
                <a:spcPct val="110000"/>
              </a:lnSpc>
              <a:spcBef>
                <a:spcPts val="0"/>
              </a:spcBef>
              <a:spcAft>
                <a:spcPts val="1397"/>
              </a:spcAft>
              <a:buChar char="•"/>
            </a:lvl5pPr>
            <a:lvl6pPr marL="2039832" indent="-266065">
              <a:lnSpc>
                <a:spcPct val="110000"/>
              </a:lnSpc>
              <a:spcBef>
                <a:spcPts val="0"/>
              </a:spcBef>
              <a:spcAft>
                <a:spcPts val="1397"/>
              </a:spcAft>
              <a:buChar char="•"/>
            </a:lvl6pPr>
            <a:lvl7pPr marL="2394585" indent="-266065">
              <a:lnSpc>
                <a:spcPct val="110000"/>
              </a:lnSpc>
              <a:spcBef>
                <a:spcPts val="0"/>
              </a:spcBef>
              <a:spcAft>
                <a:spcPts val="1397"/>
              </a:spcAft>
              <a:buChar char="•"/>
            </a:lvl7pPr>
            <a:lvl8pPr marL="2749338" indent="-266065">
              <a:lnSpc>
                <a:spcPct val="110000"/>
              </a:lnSpc>
              <a:spcBef>
                <a:spcPts val="0"/>
              </a:spcBef>
              <a:spcAft>
                <a:spcPts val="1397"/>
              </a:spcAft>
              <a:buChar char="•"/>
            </a:lvl8pPr>
            <a:lvl9pPr marL="3104092" indent="-266065">
              <a:lnSpc>
                <a:spcPct val="110000"/>
              </a:lnSpc>
              <a:spcBef>
                <a:spcPts val="0"/>
              </a:spcBef>
              <a:spcAft>
                <a:spcPts val="1397"/>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369148-E22D-4F47-8CB5-636A4EDD18EE}"/>
              </a:ext>
            </a:extLst>
          </p:cNvPr>
          <p:cNvSpPr>
            <a:spLocks xmlns:a="http://schemas.openxmlformats.org/drawingml/2006/main" noGrp="1"/>
          </p:cNvSpPr>
          <p:nvPr>
            <p:ph type="title" idx="0"/>
          </p:nvPr>
        </p:nvSpPr>
        <p:spPr>
          <a:xfrm xmlns:a="http://schemas.openxmlformats.org/drawingml/2006/main">
            <a:off x="826710" y="620818"/>
            <a:ext cx="13043654" cy="97557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41"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C47695-88EF-40FE-8112-872715C9E403}"/>
              </a:ext>
            </a:extLst>
          </p:cNvPr>
          <p:cNvSpPr>
            <a:spLocks xmlns:a="http://schemas.openxmlformats.org/drawingml/2006/main" noGrp="1"/>
          </p:cNvSpPr>
          <p:nvPr>
            <p:ph type="body" idx="1"/>
          </p:nvPr>
        </p:nvSpPr>
        <p:spPr>
          <a:xfrm xmlns:a="http://schemas.openxmlformats.org/drawingml/2006/main">
            <a:off x="826710" y="2217208"/>
            <a:ext cx="6062543" cy="49665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19" b="0">
                <a:solidFill>
                  <a:schemeClr val="tx1"/>
                </a:solidFill>
                <a:latin typeface="+mn-lt"/>
                <a:ea typeface="+mn-lt"/>
                <a:cs typeface="+mn-lt"/>
              </a:defRPr>
            </a:defPPr>
            <a:lvl1pPr marL="266065" indent="-266065">
              <a:lnSpc>
                <a:spcPct val="110000"/>
              </a:lnSpc>
              <a:spcBef>
                <a:spcPts val="0"/>
              </a:spcBef>
              <a:spcAft>
                <a:spcPts val="1397"/>
              </a:spcAft>
              <a:buChar char="•"/>
            </a:lvl1pPr>
            <a:lvl2pPr marL="620818" indent="-266065">
              <a:lnSpc>
                <a:spcPct val="110000"/>
              </a:lnSpc>
              <a:spcBef>
                <a:spcPts val="0"/>
              </a:spcBef>
              <a:spcAft>
                <a:spcPts val="1397"/>
              </a:spcAft>
              <a:buChar char="•"/>
            </a:lvl2pPr>
            <a:lvl3pPr marL="975572" indent="-266065">
              <a:lnSpc>
                <a:spcPct val="110000"/>
              </a:lnSpc>
              <a:spcBef>
                <a:spcPts val="0"/>
              </a:spcBef>
              <a:spcAft>
                <a:spcPts val="1397"/>
              </a:spcAft>
              <a:buChar char="•"/>
            </a:lvl3pPr>
            <a:lvl4pPr marL="1330325" indent="-266065">
              <a:lnSpc>
                <a:spcPct val="110000"/>
              </a:lnSpc>
              <a:spcBef>
                <a:spcPts val="0"/>
              </a:spcBef>
              <a:spcAft>
                <a:spcPts val="1397"/>
              </a:spcAft>
              <a:buChar char="•"/>
            </a:lvl4pPr>
            <a:lvl5pPr marL="1685078" indent="-266065">
              <a:lnSpc>
                <a:spcPct val="110000"/>
              </a:lnSpc>
              <a:spcBef>
                <a:spcPts val="0"/>
              </a:spcBef>
              <a:spcAft>
                <a:spcPts val="1397"/>
              </a:spcAft>
              <a:buChar char="•"/>
            </a:lvl5pPr>
            <a:lvl6pPr marL="2039832" indent="-266065">
              <a:lnSpc>
                <a:spcPct val="110000"/>
              </a:lnSpc>
              <a:spcBef>
                <a:spcPts val="0"/>
              </a:spcBef>
              <a:spcAft>
                <a:spcPts val="1397"/>
              </a:spcAft>
              <a:buChar char="•"/>
            </a:lvl6pPr>
            <a:lvl7pPr marL="2394585" indent="-266065">
              <a:lnSpc>
                <a:spcPct val="110000"/>
              </a:lnSpc>
              <a:spcBef>
                <a:spcPts val="0"/>
              </a:spcBef>
              <a:spcAft>
                <a:spcPts val="1397"/>
              </a:spcAft>
              <a:buChar char="•"/>
            </a:lvl7pPr>
            <a:lvl8pPr marL="2749338" indent="-266065">
              <a:lnSpc>
                <a:spcPct val="110000"/>
              </a:lnSpc>
              <a:spcBef>
                <a:spcPts val="0"/>
              </a:spcBef>
              <a:spcAft>
                <a:spcPts val="1397"/>
              </a:spcAft>
              <a:buChar char="•"/>
            </a:lvl8pPr>
            <a:lvl9pPr marL="3104092" indent="-266065">
              <a:lnSpc>
                <a:spcPct val="110000"/>
              </a:lnSpc>
              <a:spcBef>
                <a:spcPts val="0"/>
              </a:spcBef>
              <a:spcAft>
                <a:spcPts val="1397"/>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32d2e813f74233" /><Relationship Type="http://schemas.openxmlformats.org/officeDocument/2006/relationships/slideLayout" Target="/ppt/slideLayouts/slideLayout1.xml" Id="R9c3fb44a980348c2" /><Relationship Type="http://schemas.openxmlformats.org/officeDocument/2006/relationships/slideLayout" Target="/ppt/slideLayouts/slideLayout2.xml" Id="R284b84cd203c4163" /><Relationship Type="http://schemas.openxmlformats.org/officeDocument/2006/relationships/slideLayout" Target="/ppt/slideLayouts/slideLayout3.xml" Id="R1a952c7ff6de480a" /><Relationship Type="http://schemas.openxmlformats.org/officeDocument/2006/relationships/slideLayout" Target="/ppt/slideLayouts/slideLayout4.xml" Id="R04f676aa4f9f4580" /><Relationship Type="http://schemas.openxmlformats.org/officeDocument/2006/relationships/slideLayout" Target="/ppt/slideLayouts/slideLayout5.xml" Id="Rb40dd6985e20475c" /><Relationship Type="http://schemas.openxmlformats.org/officeDocument/2006/relationships/slideLayout" Target="/ppt/slideLayouts/slideLayout6.xml" Id="R9e368935dfac48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3fb44a980348c2"/>
    <p:sldLayoutId xmlns:r="http://schemas.openxmlformats.org/officeDocument/2006/relationships" id="2147483650" r:id="R284b84cd203c4163"/>
    <p:sldLayoutId xmlns:r="http://schemas.openxmlformats.org/officeDocument/2006/relationships" id="2147483651" r:id="R1a952c7ff6de480a"/>
    <p:sldLayoutId xmlns:r="http://schemas.openxmlformats.org/officeDocument/2006/relationships" id="2147483652" r:id="R04f676aa4f9f4580"/>
    <p:sldLayoutId xmlns:r="http://schemas.openxmlformats.org/officeDocument/2006/relationships" id="2147483653" r:id="Rb40dd6985e20475c"/>
    <p:sldLayoutId xmlns:r="http://schemas.openxmlformats.org/officeDocument/2006/relationships" id="2147483654" r:id="R9e368935dfac48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a10bf8d3704870" /><Relationship Type="http://schemas.openxmlformats.org/officeDocument/2006/relationships/notesSlide" Target="/ppt/notesSlides/notesSlide1.xml" Id="Re439719c376a4dca" /></Relationships>
</file>

<file path=ppt/slides/slide1.xml><?xml version="1.0" encoding="utf-8"?>
<p:sld xmlns:p="http://schemas.openxmlformats.org/presentationml/2006/main">
  <p:cSld>
    <p:bg>
      <p:bgPr>
        <a:solidFill xmlns:a="http://schemas.openxmlformats.org/drawingml/2006/main">
          <a:srgbClr val="F1FCD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DA7AC26-1016-4B2C-8DFF-5C7B68487B16}"/>
              </a:ext>
            </a:extLst>
          </p:cNvPr>
          <p:cNvSpPr>
            <a:spLocks xmlns:a="http://schemas.openxmlformats.org/drawingml/2006/main" noGrp="1"/>
          </p:cNvSpPr>
          <p:nvPr/>
        </p:nvSpPr>
        <p:spPr>
          <a:xfrm xmlns:a="http://schemas.openxmlformats.org/drawingml/2006/main">
            <a:off x="619125" y="523875"/>
            <a:ext cx="1333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0B5C39"/>
                </a:solidFill>
                <a:latin typeface="Lato"/>
                <a:ea typeface="Lato"/>
                <a:cs typeface="Lato"/>
              </a:defRPr>
            </a:defPPr>
          </a:lstStyle>
          <a:p xmlns:a="http://schemas.openxmlformats.org/drawingml/2006/main">
            <a:pPr>
              <a:defRPr sz="3675" b="1">
                <a:solidFill>
                  <a:srgbClr val="0B5C39"/>
                </a:solidFill>
                <a:latin typeface="Lato"/>
                <a:ea typeface="Lato"/>
                <a:cs typeface="Lato"/>
              </a:defRPr>
            </a:pPr>
            <a:r>
              <a:rPr sz="3675" b="1">
                <a:solidFill>
                  <a:srgbClr val="0B5C39"/>
                </a:solidFill>
                <a:latin typeface="Lato"/>
                <a:ea typeface="Lato"/>
                <a:cs typeface="Lato"/>
              </a:rPr>
              <a:t>ICD-10 test suggestions in ClinSync</a:t>
            </a:r>
          </a:p>
        </p:txBody>
      </p:sp>
      <p:sp>
        <p:nvSpPr>
          <p:cNvPr id="2" name="">
            <a:extLst xmlns:a="http://schemas.openxmlformats.org/drawingml/2006/main">
              <a:ext uri="{FF2B5EF4-FFF2-40B4-BE49-F238E27FC236}">
                <a16:creationId xmlns:a16="http://schemas.microsoft.com/office/drawing/2014/main" id="{E256B99D-53B3-4668-8638-D62535280B68}"/>
              </a:ext>
            </a:extLst>
          </p:cNvPr>
          <p:cNvSpPr>
            <a:spLocks xmlns:a="http://schemas.openxmlformats.org/drawingml/2006/main" noGrp="1"/>
          </p:cNvSpPr>
          <p:nvPr/>
        </p:nvSpPr>
        <p:spPr>
          <a:xfrm xmlns:a="http://schemas.openxmlformats.org/drawingml/2006/main">
            <a:off x="647700" y="1362075"/>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D30"/>
                </a:solidFill>
                <a:latin typeface="Lato"/>
                <a:ea typeface="Lato"/>
                <a:cs typeface="Lato"/>
              </a:defRPr>
            </a:defPPr>
          </a:lstStyle>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Four diagnosis shortcuts with editable test selections and visible LOINC references</a:t>
            </a:r>
          </a:p>
        </p:txBody>
      </p:sp>
      <p:sp>
        <p:nvSpPr>
          <p:cNvPr id="3" name="">
            <a:extLst xmlns:a="http://schemas.openxmlformats.org/drawingml/2006/main">
              <a:ext uri="{FF2B5EF4-FFF2-40B4-BE49-F238E27FC236}">
                <a16:creationId xmlns:a16="http://schemas.microsoft.com/office/drawing/2014/main" id="{71B86CEB-129F-4444-9A9C-3C2E2406639C}"/>
              </a:ext>
            </a:extLst>
          </p:cNvPr>
          <p:cNvSpPr>
            <a:spLocks xmlns:a="http://schemas.openxmlformats.org/drawingml/2006/main" noGrp="1"/>
          </p:cNvSpPr>
          <p:nvPr/>
        </p:nvSpPr>
        <p:spPr>
          <a:xfrm xmlns:a="http://schemas.openxmlformats.org/drawingml/2006/main">
            <a:off x="619125" y="2133600"/>
            <a:ext cx="3190875" cy="1524000"/>
          </a:xfrm>
          <a:prstGeom xmlns:a="http://schemas.openxmlformats.org/drawingml/2006/main" prst="rect">
            <a:avLst/>
          </a:prstGeom>
          <a:solidFill xmlns:a="http://schemas.openxmlformats.org/drawingml/2006/main">
            <a:srgbClr val="DCECE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AA96BE-0073-40A2-8A2B-3D27AB99A001}"/>
              </a:ext>
            </a:extLst>
          </p:cNvPr>
          <p:cNvSpPr>
            <a:spLocks xmlns:a="http://schemas.openxmlformats.org/drawingml/2006/main" noGrp="1"/>
          </p:cNvSpPr>
          <p:nvPr/>
        </p:nvSpPr>
        <p:spPr>
          <a:xfrm xmlns:a="http://schemas.openxmlformats.org/drawingml/2006/main">
            <a:off x="619125" y="2133600"/>
            <a:ext cx="542925" cy="1524000"/>
          </a:xfrm>
          <a:prstGeom xmlns:a="http://schemas.openxmlformats.org/drawingml/2006/main" prst="rect">
            <a:avLst/>
          </a:prstGeom>
          <a:solidFill xmlns:a="http://schemas.openxmlformats.org/drawingml/2006/main">
            <a:srgbClr val="BDDDB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E9756B-EDEF-4319-9DA5-5F0E9B380DC1}"/>
              </a:ext>
            </a:extLst>
          </p:cNvPr>
          <p:cNvSpPr>
            <a:spLocks xmlns:a="http://schemas.openxmlformats.org/drawingml/2006/main" noGrp="1"/>
          </p:cNvSpPr>
          <p:nvPr/>
        </p:nvSpPr>
        <p:spPr>
          <a:xfrm xmlns:a="http://schemas.openxmlformats.org/drawingml/2006/main">
            <a:off x="762000" y="2667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D30"/>
                </a:solidFill>
                <a:latin typeface="Lato"/>
                <a:ea typeface="Lato"/>
                <a:cs typeface="Lato"/>
              </a:defRPr>
            </a:defPPr>
          </a:lstStyle>
          <a:p xmlns:a="http://schemas.openxmlformats.org/drawingml/2006/main">
            <a:pPr>
              <a:defRPr sz="2250" b="0">
                <a:solidFill>
                  <a:srgbClr val="173D30"/>
                </a:solidFill>
                <a:latin typeface="Lato"/>
                <a:ea typeface="Lato"/>
                <a:cs typeface="Lato"/>
              </a:defRPr>
            </a:pPr>
            <a:r>
              <a:rPr sz="2250" b="0">
                <a:solidFill>
                  <a:srgbClr val="173D30"/>
                </a:solidFill>
                <a:latin typeface="Lato"/>
                <a:ea typeface="Lato"/>
                <a:cs typeface="Lato"/>
              </a:rPr>
              <a:t>1</a:t>
            </a:r>
          </a:p>
        </p:txBody>
      </p:sp>
      <p:sp>
        <p:nvSpPr>
          <p:cNvPr id="6" name="">
            <a:extLst xmlns:a="http://schemas.openxmlformats.org/drawingml/2006/main">
              <a:ext uri="{FF2B5EF4-FFF2-40B4-BE49-F238E27FC236}">
                <a16:creationId xmlns:a16="http://schemas.microsoft.com/office/drawing/2014/main" id="{0CC97251-B2A2-4CAF-97EC-7EF1A09B0C28}"/>
              </a:ext>
            </a:extLst>
          </p:cNvPr>
          <p:cNvSpPr>
            <a:spLocks xmlns:a="http://schemas.openxmlformats.org/drawingml/2006/main" noGrp="1"/>
          </p:cNvSpPr>
          <p:nvPr/>
        </p:nvSpPr>
        <p:spPr>
          <a:xfrm xmlns:a="http://schemas.openxmlformats.org/drawingml/2006/main">
            <a:off x="1304925" y="2343150"/>
            <a:ext cx="2419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D30"/>
                </a:solidFill>
                <a:latin typeface="Lato"/>
                <a:ea typeface="Lato"/>
                <a:cs typeface="Lato"/>
              </a:defRPr>
            </a:defPPr>
          </a:lstStyle>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Select an ICD-10</a:t>
            </a:r>
          </a:p>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diagnosis</a:t>
            </a:r>
          </a:p>
        </p:txBody>
      </p:sp>
      <p:sp>
        <p:nvSpPr>
          <p:cNvPr id="7" name="">
            <a:extLst xmlns:a="http://schemas.openxmlformats.org/drawingml/2006/main">
              <a:ext uri="{FF2B5EF4-FFF2-40B4-BE49-F238E27FC236}">
                <a16:creationId xmlns:a16="http://schemas.microsoft.com/office/drawing/2014/main" id="{F3703A0E-B33E-4452-9A0C-010FAAD29312}"/>
              </a:ext>
            </a:extLst>
          </p:cNvPr>
          <p:cNvSpPr>
            <a:spLocks xmlns:a="http://schemas.openxmlformats.org/drawingml/2006/main" noGrp="1"/>
          </p:cNvSpPr>
          <p:nvPr/>
        </p:nvSpPr>
        <p:spPr>
          <a:xfrm xmlns:a="http://schemas.openxmlformats.org/drawingml/2006/main">
            <a:off x="1304925" y="3209925"/>
            <a:ext cx="238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426450"/>
                </a:solidFill>
                <a:latin typeface="Lato"/>
                <a:ea typeface="Lato"/>
                <a:cs typeface="Lato"/>
              </a:defRPr>
            </a:defPPr>
          </a:lstStyle>
          <a:p xmlns:a="http://schemas.openxmlformats.org/drawingml/2006/main">
            <a:pPr>
              <a:defRPr sz="1425" b="0">
                <a:solidFill>
                  <a:srgbClr val="426450"/>
                </a:solidFill>
                <a:latin typeface="Lato"/>
                <a:ea typeface="Lato"/>
                <a:cs typeface="Lato"/>
              </a:defRPr>
            </a:pPr>
            <a:r>
              <a:rPr sz="1425" b="0">
                <a:solidFill>
                  <a:srgbClr val="426450"/>
                </a:solidFill>
                <a:latin typeface="Lato"/>
                <a:ea typeface="Lato"/>
                <a:cs typeface="Lato"/>
              </a:rPr>
              <a:t>In the Lab Orders tab</a:t>
            </a:r>
          </a:p>
        </p:txBody>
      </p:sp>
      <p:sp>
        <p:nvSpPr>
          <p:cNvPr id="8" name="">
            <a:extLst xmlns:a="http://schemas.openxmlformats.org/drawingml/2006/main">
              <a:ext uri="{FF2B5EF4-FFF2-40B4-BE49-F238E27FC236}">
                <a16:creationId xmlns:a16="http://schemas.microsoft.com/office/drawing/2014/main" id="{3BB76000-C09D-46E3-9A4F-8939BC75CD73}"/>
              </a:ext>
            </a:extLst>
          </p:cNvPr>
          <p:cNvSpPr>
            <a:spLocks xmlns:a="http://schemas.openxmlformats.org/drawingml/2006/main" noGrp="1"/>
          </p:cNvSpPr>
          <p:nvPr/>
        </p:nvSpPr>
        <p:spPr>
          <a:xfrm xmlns:a="http://schemas.openxmlformats.org/drawingml/2006/main">
            <a:off x="4019550" y="2133600"/>
            <a:ext cx="3190875" cy="1524000"/>
          </a:xfrm>
          <a:prstGeom xmlns:a="http://schemas.openxmlformats.org/drawingml/2006/main" prst="rect">
            <a:avLst/>
          </a:prstGeom>
          <a:solidFill xmlns:a="http://schemas.openxmlformats.org/drawingml/2006/main">
            <a:srgbClr val="DCECE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A3C1CB-02C8-44B7-A4B3-2AF3FA7CC523}"/>
              </a:ext>
            </a:extLst>
          </p:cNvPr>
          <p:cNvSpPr>
            <a:spLocks xmlns:a="http://schemas.openxmlformats.org/drawingml/2006/main" noGrp="1"/>
          </p:cNvSpPr>
          <p:nvPr/>
        </p:nvSpPr>
        <p:spPr>
          <a:xfrm xmlns:a="http://schemas.openxmlformats.org/drawingml/2006/main">
            <a:off x="4019550" y="2133600"/>
            <a:ext cx="542925" cy="1524000"/>
          </a:xfrm>
          <a:prstGeom xmlns:a="http://schemas.openxmlformats.org/drawingml/2006/main" prst="rect">
            <a:avLst/>
          </a:prstGeom>
          <a:solidFill xmlns:a="http://schemas.openxmlformats.org/drawingml/2006/main">
            <a:srgbClr val="BDDDB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3183732-5316-4F64-B7F2-29BBAA539C1F}"/>
              </a:ext>
            </a:extLst>
          </p:cNvPr>
          <p:cNvSpPr>
            <a:spLocks xmlns:a="http://schemas.openxmlformats.org/drawingml/2006/main" noGrp="1"/>
          </p:cNvSpPr>
          <p:nvPr/>
        </p:nvSpPr>
        <p:spPr>
          <a:xfrm xmlns:a="http://schemas.openxmlformats.org/drawingml/2006/main">
            <a:off x="4162425" y="2667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D30"/>
                </a:solidFill>
                <a:latin typeface="Lato"/>
                <a:ea typeface="Lato"/>
                <a:cs typeface="Lato"/>
              </a:defRPr>
            </a:defPPr>
          </a:lstStyle>
          <a:p xmlns:a="http://schemas.openxmlformats.org/drawingml/2006/main">
            <a:pPr>
              <a:defRPr sz="2250" b="0">
                <a:solidFill>
                  <a:srgbClr val="173D30"/>
                </a:solidFill>
                <a:latin typeface="Lato"/>
                <a:ea typeface="Lato"/>
                <a:cs typeface="Lato"/>
              </a:defRPr>
            </a:pPr>
            <a:r>
              <a:rPr sz="2250" b="0">
                <a:solidFill>
                  <a:srgbClr val="173D30"/>
                </a:solidFill>
                <a:latin typeface="Lato"/>
                <a:ea typeface="Lato"/>
                <a:cs typeface="Lato"/>
              </a:rPr>
              <a:t>2</a:t>
            </a:r>
          </a:p>
        </p:txBody>
      </p:sp>
      <p:sp>
        <p:nvSpPr>
          <p:cNvPr id="11" name="">
            <a:extLst xmlns:a="http://schemas.openxmlformats.org/drawingml/2006/main">
              <a:ext uri="{FF2B5EF4-FFF2-40B4-BE49-F238E27FC236}">
                <a16:creationId xmlns:a16="http://schemas.microsoft.com/office/drawing/2014/main" id="{AEC10493-D158-4528-BD1B-7C6D1D1BD052}"/>
              </a:ext>
            </a:extLst>
          </p:cNvPr>
          <p:cNvSpPr>
            <a:spLocks xmlns:a="http://schemas.openxmlformats.org/drawingml/2006/main" noGrp="1"/>
          </p:cNvSpPr>
          <p:nvPr/>
        </p:nvSpPr>
        <p:spPr>
          <a:xfrm xmlns:a="http://schemas.openxmlformats.org/drawingml/2006/main">
            <a:off x="4705350" y="2343150"/>
            <a:ext cx="2419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D30"/>
                </a:solidFill>
                <a:latin typeface="Lato"/>
                <a:ea typeface="Lato"/>
                <a:cs typeface="Lato"/>
              </a:defRPr>
            </a:defPPr>
          </a:lstStyle>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View the suggested</a:t>
            </a:r>
          </a:p>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test or panel</a:t>
            </a:r>
          </a:p>
        </p:txBody>
      </p:sp>
      <p:sp>
        <p:nvSpPr>
          <p:cNvPr id="12" name="">
            <a:extLst xmlns:a="http://schemas.openxmlformats.org/drawingml/2006/main">
              <a:ext uri="{FF2B5EF4-FFF2-40B4-BE49-F238E27FC236}">
                <a16:creationId xmlns:a16="http://schemas.microsoft.com/office/drawing/2014/main" id="{B039F0A8-F23C-4D0D-9D1F-BC6A527D984F}"/>
              </a:ext>
            </a:extLst>
          </p:cNvPr>
          <p:cNvSpPr>
            <a:spLocks xmlns:a="http://schemas.openxmlformats.org/drawingml/2006/main" noGrp="1"/>
          </p:cNvSpPr>
          <p:nvPr/>
        </p:nvSpPr>
        <p:spPr>
          <a:xfrm xmlns:a="http://schemas.openxmlformats.org/drawingml/2006/main">
            <a:off x="4705350" y="3209925"/>
            <a:ext cx="238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426450"/>
                </a:solidFill>
                <a:latin typeface="Lato"/>
                <a:ea typeface="Lato"/>
                <a:cs typeface="Lato"/>
              </a:defRPr>
            </a:defPPr>
          </a:lstStyle>
          <a:p xmlns:a="http://schemas.openxmlformats.org/drawingml/2006/main">
            <a:pPr>
              <a:defRPr sz="1425" b="0">
                <a:solidFill>
                  <a:srgbClr val="426450"/>
                </a:solidFill>
                <a:latin typeface="Lato"/>
                <a:ea typeface="Lato"/>
                <a:cs typeface="Lato"/>
              </a:defRPr>
            </a:pPr>
            <a:r>
              <a:rPr sz="1425" b="0">
                <a:solidFill>
                  <a:srgbClr val="426450"/>
                </a:solidFill>
                <a:latin typeface="Lato"/>
                <a:ea typeface="Lato"/>
                <a:cs typeface="Lato"/>
              </a:rPr>
              <a:t>LOINC reference displayed</a:t>
            </a:r>
          </a:p>
        </p:txBody>
      </p:sp>
      <p:sp>
        <p:nvSpPr>
          <p:cNvPr id="13" name="">
            <a:extLst xmlns:a="http://schemas.openxmlformats.org/drawingml/2006/main">
              <a:ext uri="{FF2B5EF4-FFF2-40B4-BE49-F238E27FC236}">
                <a16:creationId xmlns:a16="http://schemas.microsoft.com/office/drawing/2014/main" id="{CA2231CD-50D0-467A-99A4-2318735EF7BC}"/>
              </a:ext>
            </a:extLst>
          </p:cNvPr>
          <p:cNvSpPr>
            <a:spLocks xmlns:a="http://schemas.openxmlformats.org/drawingml/2006/main" noGrp="1"/>
          </p:cNvSpPr>
          <p:nvPr/>
        </p:nvSpPr>
        <p:spPr>
          <a:xfrm xmlns:a="http://schemas.openxmlformats.org/drawingml/2006/main">
            <a:off x="7419975" y="2133600"/>
            <a:ext cx="3190875" cy="1524000"/>
          </a:xfrm>
          <a:prstGeom xmlns:a="http://schemas.openxmlformats.org/drawingml/2006/main" prst="rect">
            <a:avLst/>
          </a:prstGeom>
          <a:solidFill xmlns:a="http://schemas.openxmlformats.org/drawingml/2006/main">
            <a:srgbClr val="DCECE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9603770-190C-478B-A870-8EE460387A80}"/>
              </a:ext>
            </a:extLst>
          </p:cNvPr>
          <p:cNvSpPr>
            <a:spLocks xmlns:a="http://schemas.openxmlformats.org/drawingml/2006/main" noGrp="1"/>
          </p:cNvSpPr>
          <p:nvPr/>
        </p:nvSpPr>
        <p:spPr>
          <a:xfrm xmlns:a="http://schemas.openxmlformats.org/drawingml/2006/main">
            <a:off x="7419975" y="2133600"/>
            <a:ext cx="542925" cy="1524000"/>
          </a:xfrm>
          <a:prstGeom xmlns:a="http://schemas.openxmlformats.org/drawingml/2006/main" prst="rect">
            <a:avLst/>
          </a:prstGeom>
          <a:solidFill xmlns:a="http://schemas.openxmlformats.org/drawingml/2006/main">
            <a:srgbClr val="BDDDB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7410509-2488-4C95-8FF5-8A59765A7CCE}"/>
              </a:ext>
            </a:extLst>
          </p:cNvPr>
          <p:cNvSpPr>
            <a:spLocks xmlns:a="http://schemas.openxmlformats.org/drawingml/2006/main" noGrp="1"/>
          </p:cNvSpPr>
          <p:nvPr/>
        </p:nvSpPr>
        <p:spPr>
          <a:xfrm xmlns:a="http://schemas.openxmlformats.org/drawingml/2006/main">
            <a:off x="7562850" y="2667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D30"/>
                </a:solidFill>
                <a:latin typeface="Lato"/>
                <a:ea typeface="Lato"/>
                <a:cs typeface="Lato"/>
              </a:defRPr>
            </a:defPPr>
          </a:lstStyle>
          <a:p xmlns:a="http://schemas.openxmlformats.org/drawingml/2006/main">
            <a:pPr>
              <a:defRPr sz="2250" b="0">
                <a:solidFill>
                  <a:srgbClr val="173D30"/>
                </a:solidFill>
                <a:latin typeface="Lato"/>
                <a:ea typeface="Lato"/>
                <a:cs typeface="Lato"/>
              </a:defRPr>
            </a:pPr>
            <a:r>
              <a:rPr sz="2250" b="0">
                <a:solidFill>
                  <a:srgbClr val="173D30"/>
                </a:solidFill>
                <a:latin typeface="Lato"/>
                <a:ea typeface="Lato"/>
                <a:cs typeface="Lato"/>
              </a:rPr>
              <a:t>3</a:t>
            </a:r>
          </a:p>
        </p:txBody>
      </p:sp>
      <p:sp>
        <p:nvSpPr>
          <p:cNvPr id="16" name="">
            <a:extLst xmlns:a="http://schemas.openxmlformats.org/drawingml/2006/main">
              <a:ext uri="{FF2B5EF4-FFF2-40B4-BE49-F238E27FC236}">
                <a16:creationId xmlns:a16="http://schemas.microsoft.com/office/drawing/2014/main" id="{9F2C4783-EDC2-4DEA-A6DE-FA2C7DE7B316}"/>
              </a:ext>
            </a:extLst>
          </p:cNvPr>
          <p:cNvSpPr>
            <a:spLocks xmlns:a="http://schemas.openxmlformats.org/drawingml/2006/main" noGrp="1"/>
          </p:cNvSpPr>
          <p:nvPr/>
        </p:nvSpPr>
        <p:spPr>
          <a:xfrm xmlns:a="http://schemas.openxmlformats.org/drawingml/2006/main">
            <a:off x="8105775" y="2343150"/>
            <a:ext cx="2419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D30"/>
                </a:solidFill>
                <a:latin typeface="Lato"/>
                <a:ea typeface="Lato"/>
                <a:cs typeface="Lato"/>
              </a:defRPr>
            </a:defPPr>
          </a:lstStyle>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Add suggested tests</a:t>
            </a:r>
          </a:p>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and adjust selection</a:t>
            </a:r>
          </a:p>
        </p:txBody>
      </p:sp>
      <p:sp>
        <p:nvSpPr>
          <p:cNvPr id="17" name="">
            <a:extLst xmlns:a="http://schemas.openxmlformats.org/drawingml/2006/main">
              <a:ext uri="{FF2B5EF4-FFF2-40B4-BE49-F238E27FC236}">
                <a16:creationId xmlns:a16="http://schemas.microsoft.com/office/drawing/2014/main" id="{1BCADDA2-8737-4773-BC7E-49EE18768124}"/>
              </a:ext>
            </a:extLst>
          </p:cNvPr>
          <p:cNvSpPr>
            <a:spLocks xmlns:a="http://schemas.openxmlformats.org/drawingml/2006/main" noGrp="1"/>
          </p:cNvSpPr>
          <p:nvPr/>
        </p:nvSpPr>
        <p:spPr>
          <a:xfrm xmlns:a="http://schemas.openxmlformats.org/drawingml/2006/main">
            <a:off x="8105775" y="3209925"/>
            <a:ext cx="238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426450"/>
                </a:solidFill>
                <a:latin typeface="Lato"/>
                <a:ea typeface="Lato"/>
                <a:cs typeface="Lato"/>
              </a:defRPr>
            </a:defPPr>
          </a:lstStyle>
          <a:p xmlns:a="http://schemas.openxmlformats.org/drawingml/2006/main">
            <a:pPr>
              <a:defRPr sz="1425" b="0">
                <a:solidFill>
                  <a:srgbClr val="426450"/>
                </a:solidFill>
                <a:latin typeface="Lato"/>
                <a:ea typeface="Lato"/>
                <a:cs typeface="Lato"/>
              </a:defRPr>
            </a:pPr>
            <a:r>
              <a:rPr sz="1425" b="0">
                <a:solidFill>
                  <a:srgbClr val="426450"/>
                </a:solidFill>
                <a:latin typeface="Lato"/>
                <a:ea typeface="Lato"/>
                <a:cs typeface="Lato"/>
              </a:rPr>
              <a:t>Doctor reviews the choices</a:t>
            </a:r>
          </a:p>
        </p:txBody>
      </p:sp>
      <p:sp>
        <p:nvSpPr>
          <p:cNvPr id="18" name="">
            <a:extLst xmlns:a="http://schemas.openxmlformats.org/drawingml/2006/main">
              <a:ext uri="{FF2B5EF4-FFF2-40B4-BE49-F238E27FC236}">
                <a16:creationId xmlns:a16="http://schemas.microsoft.com/office/drawing/2014/main" id="{791EDBA7-C6E7-42B5-A281-C5923ACA7C19}"/>
              </a:ext>
            </a:extLst>
          </p:cNvPr>
          <p:cNvSpPr>
            <a:spLocks xmlns:a="http://schemas.openxmlformats.org/drawingml/2006/main" noGrp="1"/>
          </p:cNvSpPr>
          <p:nvPr/>
        </p:nvSpPr>
        <p:spPr>
          <a:xfrm xmlns:a="http://schemas.openxmlformats.org/drawingml/2006/main">
            <a:off x="10820400" y="2133600"/>
            <a:ext cx="3190875" cy="1524000"/>
          </a:xfrm>
          <a:prstGeom xmlns:a="http://schemas.openxmlformats.org/drawingml/2006/main" prst="rect">
            <a:avLst/>
          </a:prstGeom>
          <a:solidFill xmlns:a="http://schemas.openxmlformats.org/drawingml/2006/main">
            <a:srgbClr val="DCECE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18269D-2618-4171-8AF8-00572910D888}"/>
              </a:ext>
            </a:extLst>
          </p:cNvPr>
          <p:cNvSpPr>
            <a:spLocks xmlns:a="http://schemas.openxmlformats.org/drawingml/2006/main" noGrp="1"/>
          </p:cNvSpPr>
          <p:nvPr/>
        </p:nvSpPr>
        <p:spPr>
          <a:xfrm xmlns:a="http://schemas.openxmlformats.org/drawingml/2006/main">
            <a:off x="10820400" y="2133600"/>
            <a:ext cx="542925" cy="1524000"/>
          </a:xfrm>
          <a:prstGeom xmlns:a="http://schemas.openxmlformats.org/drawingml/2006/main" prst="rect">
            <a:avLst/>
          </a:prstGeom>
          <a:solidFill xmlns:a="http://schemas.openxmlformats.org/drawingml/2006/main">
            <a:srgbClr val="BDDDB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F3762F6-0805-4DF5-A505-8C15E04FB1FE}"/>
              </a:ext>
            </a:extLst>
          </p:cNvPr>
          <p:cNvSpPr>
            <a:spLocks xmlns:a="http://schemas.openxmlformats.org/drawingml/2006/main" noGrp="1"/>
          </p:cNvSpPr>
          <p:nvPr/>
        </p:nvSpPr>
        <p:spPr>
          <a:xfrm xmlns:a="http://schemas.openxmlformats.org/drawingml/2006/main">
            <a:off x="10963275" y="266700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D30"/>
                </a:solidFill>
                <a:latin typeface="Lato"/>
                <a:ea typeface="Lato"/>
                <a:cs typeface="Lato"/>
              </a:defRPr>
            </a:defPPr>
          </a:lstStyle>
          <a:p xmlns:a="http://schemas.openxmlformats.org/drawingml/2006/main">
            <a:pPr>
              <a:defRPr sz="2250" b="0">
                <a:solidFill>
                  <a:srgbClr val="173D30"/>
                </a:solidFill>
                <a:latin typeface="Lato"/>
                <a:ea typeface="Lato"/>
                <a:cs typeface="Lato"/>
              </a:defRPr>
            </a:pPr>
            <a:r>
              <a:rPr sz="2250" b="0">
                <a:solidFill>
                  <a:srgbClr val="173D30"/>
                </a:solidFill>
                <a:latin typeface="Lato"/>
                <a:ea typeface="Lato"/>
                <a:cs typeface="Lato"/>
              </a:rPr>
              <a:t>4</a:t>
            </a:r>
          </a:p>
        </p:txBody>
      </p:sp>
      <p:sp>
        <p:nvSpPr>
          <p:cNvPr id="21" name="">
            <a:extLst xmlns:a="http://schemas.openxmlformats.org/drawingml/2006/main">
              <a:ext uri="{FF2B5EF4-FFF2-40B4-BE49-F238E27FC236}">
                <a16:creationId xmlns:a16="http://schemas.microsoft.com/office/drawing/2014/main" id="{61E35DA0-2C2F-426A-BC33-711B2CE7133A}"/>
              </a:ext>
            </a:extLst>
          </p:cNvPr>
          <p:cNvSpPr>
            <a:spLocks xmlns:a="http://schemas.openxmlformats.org/drawingml/2006/main" noGrp="1"/>
          </p:cNvSpPr>
          <p:nvPr/>
        </p:nvSpPr>
        <p:spPr>
          <a:xfrm xmlns:a="http://schemas.openxmlformats.org/drawingml/2006/main">
            <a:off x="11506200" y="2343150"/>
            <a:ext cx="2419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D30"/>
                </a:solidFill>
                <a:latin typeface="Lato"/>
                <a:ea typeface="Lato"/>
                <a:cs typeface="Lato"/>
              </a:defRPr>
            </a:defPPr>
          </a:lstStyle>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Confirm with</a:t>
            </a:r>
          </a:p>
          <a:p xmlns:a="http://schemas.openxmlformats.org/drawingml/2006/main">
            <a:pPr>
              <a:defRPr sz="2175" b="0">
                <a:solidFill>
                  <a:srgbClr val="173D30"/>
                </a:solidFill>
                <a:latin typeface="Lato"/>
                <a:ea typeface="Lato"/>
                <a:cs typeface="Lato"/>
              </a:defRPr>
            </a:pPr>
            <a:r>
              <a:rPr sz="2175" b="0">
                <a:solidFill>
                  <a:srgbClr val="173D30"/>
                </a:solidFill>
                <a:latin typeface="Lato"/>
                <a:ea typeface="Lato"/>
                <a:cs typeface="Lato"/>
              </a:rPr>
              <a:t>Create Order</a:t>
            </a:r>
          </a:p>
        </p:txBody>
      </p:sp>
      <p:sp>
        <p:nvSpPr>
          <p:cNvPr id="22" name="">
            <a:extLst xmlns:a="http://schemas.openxmlformats.org/drawingml/2006/main">
              <a:ext uri="{FF2B5EF4-FFF2-40B4-BE49-F238E27FC236}">
                <a16:creationId xmlns:a16="http://schemas.microsoft.com/office/drawing/2014/main" id="{86578551-8B8E-4C99-B8EB-388FC00BA65D}"/>
              </a:ext>
            </a:extLst>
          </p:cNvPr>
          <p:cNvSpPr>
            <a:spLocks xmlns:a="http://schemas.openxmlformats.org/drawingml/2006/main" noGrp="1"/>
          </p:cNvSpPr>
          <p:nvPr/>
        </p:nvSpPr>
        <p:spPr>
          <a:xfrm xmlns:a="http://schemas.openxmlformats.org/drawingml/2006/main">
            <a:off x="11506200" y="3209925"/>
            <a:ext cx="238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426450"/>
                </a:solidFill>
                <a:latin typeface="Lato"/>
                <a:ea typeface="Lato"/>
                <a:cs typeface="Lato"/>
              </a:defRPr>
            </a:defPPr>
          </a:lstStyle>
          <a:p xmlns:a="http://schemas.openxmlformats.org/drawingml/2006/main">
            <a:pPr>
              <a:defRPr sz="1425" b="0">
                <a:solidFill>
                  <a:srgbClr val="426450"/>
                </a:solidFill>
                <a:latin typeface="Lato"/>
                <a:ea typeface="Lato"/>
                <a:cs typeface="Lato"/>
              </a:defRPr>
            </a:pPr>
            <a:r>
              <a:rPr sz="1425" b="0">
                <a:solidFill>
                  <a:srgbClr val="426450"/>
                </a:solidFill>
                <a:latin typeface="Lato"/>
                <a:ea typeface="Lato"/>
                <a:cs typeface="Lato"/>
              </a:rPr>
              <a:t>Selected tests enter LIS</a:t>
            </a:r>
          </a:p>
        </p:txBody>
      </p:sp>
      <p:sp>
        <p:nvSpPr>
          <p:cNvPr id="23" name="">
            <a:extLst xmlns:a="http://schemas.openxmlformats.org/drawingml/2006/main">
              <a:ext uri="{FF2B5EF4-FFF2-40B4-BE49-F238E27FC236}">
                <a16:creationId xmlns:a16="http://schemas.microsoft.com/office/drawing/2014/main" id="{048E7D4B-4DAB-4F37-8626-A951BF3034B3}"/>
              </a:ext>
            </a:extLst>
          </p:cNvPr>
          <p:cNvSpPr>
            <a:spLocks xmlns:a="http://schemas.openxmlformats.org/drawingml/2006/main" noGrp="1"/>
          </p:cNvSpPr>
          <p:nvPr/>
        </p:nvSpPr>
        <p:spPr>
          <a:xfrm xmlns:a="http://schemas.openxmlformats.org/drawingml/2006/main">
            <a:off x="647700" y="3971925"/>
            <a:ext cx="857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D30"/>
                </a:solidFill>
                <a:latin typeface="Lato"/>
                <a:ea typeface="Lato"/>
                <a:cs typeface="Lato"/>
              </a:defRPr>
            </a:defPPr>
          </a:lstStyle>
          <a:p xmlns:a="http://schemas.openxmlformats.org/drawingml/2006/main">
            <a:pPr>
              <a:defRPr sz="2325" b="1">
                <a:solidFill>
                  <a:srgbClr val="173D30"/>
                </a:solidFill>
                <a:latin typeface="Lato"/>
                <a:ea typeface="Lato"/>
                <a:cs typeface="Lato"/>
              </a:defRPr>
            </a:pPr>
            <a:r>
              <a:rPr sz="2325" b="1">
                <a:solidFill>
                  <a:srgbClr val="173D30"/>
                </a:solidFill>
                <a:latin typeface="Lato"/>
                <a:ea typeface="Lato"/>
                <a:cs typeface="Lato"/>
              </a:rPr>
              <a:t>Available diagnosis suggestions</a:t>
            </a:r>
          </a:p>
        </p:txBody>
      </p:sp>
      <p:graphicFrame>
        <p:nvGraphicFramePr>
          <p:cNvPr id="24" name="">
            <a:extLst xmlns:a="http://schemas.openxmlformats.org/drawingml/2006/main">
              <a:ext uri="{FF2B5EF4-FFF2-40B4-BE49-F238E27FC236}">
                <a16:creationId xmlns:a16="http://schemas.microsoft.com/office/drawing/2014/main" id="{97FF54B7-D706-48B9-9D86-E9A83B4C024A}"/>
              </a:ext>
            </a:extLst>
          </p:cNvPr>
          <p:cNvGraphicFramePr/>
          <p:nvPr/>
        </p:nvGraphicFramePr>
        <p:xfrm>
          <a:off xmlns:a="http://schemas.openxmlformats.org/drawingml/2006/main" x="647700" y="4543425"/>
          <a:ext xmlns:a="http://schemas.openxmlformats.org/drawingml/2006/main" cx="8782050" cy="2838450"/>
        </p:xfrm>
        <a:graphic xmlns:a="http://schemas.openxmlformats.org/drawingml/2006/main">
          <a:graphicData uri="http://schemas.openxmlformats.org/drawingml/2006/table">
            <a:tbl>
              <a:tblPr/>
              <a:tblGrid>
                <a:gridCol w="990600"/>
                <a:gridCol w="2762250"/>
                <a:gridCol w="3524250"/>
                <a:gridCol w="1504950"/>
              </a:tblGrid>
              <a:tr h="476250">
                <a:tc>
                  <a:txBody>
                    <a:bodyPr/>
                    <a:lstStyle/>
                    <a:p>
                      <a:r>
                        <a:rPr sz="1725" b="1">
                          <a:solidFill>
                            <a:srgbClr val="173D30"/>
                          </a:solidFill>
                          <a:latin typeface="Lato"/>
                          <a:ea typeface="Lato"/>
                          <a:cs typeface="Lato"/>
                        </a:rPr>
                        <a:t>ICD-10</a:t>
                      </a:r>
                    </a:p>
                  </a:txBody>
                  <a:tcPr marL="91440" marR="91440" marT="45720" marB="45720">
                    <a:lnL w="9525">
                      <a:solidFill>
                        <a:srgbClr val="B8CDB0"/>
                      </a:solidFill>
                      <a:prstDash val="solid"/>
                    </a:lnL>
                    <a:lnR w="9525">
                      <a:solidFill>
                        <a:srgbClr val="B8CDB0"/>
                      </a:solidFill>
                      <a:prstDash val="solid"/>
                    </a:lnR>
                    <a:lnT w="9525">
                      <a:solidFill>
                        <a:srgbClr val="B8CDB0"/>
                      </a:solidFill>
                      <a:prstDash val="solid"/>
                    </a:lnT>
                    <a:lnB w="9525">
                      <a:solidFill>
                        <a:srgbClr val="B8CDB0"/>
                      </a:solidFill>
                      <a:prstDash val="solid"/>
                    </a:lnB>
                    <a:solidFill>
                      <a:srgbClr val="D1E7CE"/>
                    </a:solidFill>
                  </a:tcPr>
                </a:tc>
                <a:tc>
                  <a:txBody>
                    <a:bodyPr/>
                    <a:lstStyle/>
                    <a:p>
                      <a:r>
                        <a:rPr sz="1725" b="1">
                          <a:solidFill>
                            <a:srgbClr val="173D30"/>
                          </a:solidFill>
                          <a:latin typeface="Lato"/>
                          <a:ea typeface="Lato"/>
                          <a:cs typeface="Lato"/>
                        </a:rPr>
                        <a:t>Diagnosis</a:t>
                      </a:r>
                    </a:p>
                  </a:txBody>
                  <a:tcPr marL="91440" marR="91440" marT="45720" marB="45720">
                    <a:lnR w="9525">
                      <a:solidFill>
                        <a:srgbClr val="B8CDB0"/>
                      </a:solidFill>
                      <a:prstDash val="solid"/>
                    </a:lnR>
                    <a:lnT w="9525">
                      <a:solidFill>
                        <a:srgbClr val="B8CDB0"/>
                      </a:solidFill>
                      <a:prstDash val="solid"/>
                    </a:lnT>
                    <a:lnB w="9525">
                      <a:solidFill>
                        <a:srgbClr val="B8CDB0"/>
                      </a:solidFill>
                      <a:prstDash val="solid"/>
                    </a:lnB>
                    <a:solidFill>
                      <a:srgbClr val="D1E7CE"/>
                    </a:solidFill>
                  </a:tcPr>
                </a:tc>
                <a:tc>
                  <a:txBody>
                    <a:bodyPr/>
                    <a:lstStyle/>
                    <a:p>
                      <a:r>
                        <a:rPr sz="1725" b="1">
                          <a:solidFill>
                            <a:srgbClr val="173D30"/>
                          </a:solidFill>
                          <a:latin typeface="Lato"/>
                          <a:ea typeface="Lato"/>
                          <a:cs typeface="Lato"/>
                        </a:rPr>
                        <a:t>Suggested test / panel</a:t>
                      </a:r>
                    </a:p>
                  </a:txBody>
                  <a:tcPr marL="91440" marR="91440" marT="45720" marB="45720">
                    <a:lnR w="9525">
                      <a:solidFill>
                        <a:srgbClr val="B8CDB0"/>
                      </a:solidFill>
                      <a:prstDash val="solid"/>
                    </a:lnR>
                    <a:lnT w="9525">
                      <a:solidFill>
                        <a:srgbClr val="B8CDB0"/>
                      </a:solidFill>
                      <a:prstDash val="solid"/>
                    </a:lnT>
                    <a:lnB w="9525">
                      <a:solidFill>
                        <a:srgbClr val="B8CDB0"/>
                      </a:solidFill>
                      <a:prstDash val="solid"/>
                    </a:lnB>
                    <a:solidFill>
                      <a:srgbClr val="D1E7CE"/>
                    </a:solidFill>
                  </a:tcPr>
                </a:tc>
                <a:tc>
                  <a:txBody>
                    <a:bodyPr/>
                    <a:lstStyle/>
                    <a:p>
                      <a:r>
                        <a:rPr sz="1725" b="1">
                          <a:solidFill>
                            <a:srgbClr val="173D30"/>
                          </a:solidFill>
                          <a:latin typeface="Lato"/>
                          <a:ea typeface="Lato"/>
                          <a:cs typeface="Lato"/>
                        </a:rPr>
                        <a:t>LOINC</a:t>
                      </a:r>
                    </a:p>
                  </a:txBody>
                  <a:tcPr marL="91440" marR="91440" marT="45720" marB="45720">
                    <a:lnR w="9525">
                      <a:solidFill>
                        <a:srgbClr val="B8CDB0"/>
                      </a:solidFill>
                      <a:prstDash val="solid"/>
                    </a:lnR>
                    <a:lnT w="9525">
                      <a:solidFill>
                        <a:srgbClr val="B8CDB0"/>
                      </a:solidFill>
                      <a:prstDash val="solid"/>
                    </a:lnT>
                    <a:lnB w="9525">
                      <a:solidFill>
                        <a:srgbClr val="B8CDB0"/>
                      </a:solidFill>
                      <a:prstDash val="solid"/>
                    </a:lnB>
                    <a:solidFill>
                      <a:srgbClr val="D1E7CE"/>
                    </a:solidFill>
                  </a:tcPr>
                </a:tc>
              </a:tr>
              <a:tr h="590550">
                <a:tc>
                  <a:txBody>
                    <a:bodyPr/>
                    <a:lstStyle/>
                    <a:p>
                      <a:r>
                        <a:rPr sz="1725" b="1">
                          <a:solidFill>
                            <a:srgbClr val="173D30"/>
                          </a:solidFill>
                          <a:latin typeface="Lato"/>
                          <a:ea typeface="Lato"/>
                          <a:cs typeface="Lato"/>
                        </a:rPr>
                        <a:t>E11</a:t>
                      </a:r>
                    </a:p>
                  </a:txBody>
                  <a:tcPr marL="91440" marR="91440" marT="45720" marB="45720">
                    <a:lnL w="9525">
                      <a:solidFill>
                        <a:srgbClr val="B8CDB0"/>
                      </a:solidFill>
                      <a:prstDash val="solid"/>
                    </a:lnL>
                    <a:lnR w="9525">
                      <a:solidFill>
                        <a:srgbClr val="B8CDB0"/>
                      </a:solidFill>
                      <a:prstDash val="solid"/>
                    </a:lnR>
                    <a:lnB w="9525">
                      <a:solidFill>
                        <a:srgbClr val="B8CDB0"/>
                      </a:solidFill>
                      <a:prstDash val="solid"/>
                    </a:lnB>
                    <a:solidFill>
                      <a:srgbClr val="F5FCEB"/>
                    </a:solidFill>
                  </a:tcPr>
                </a:tc>
                <a:tc>
                  <a:txBody>
                    <a:bodyPr/>
                    <a:lstStyle/>
                    <a:p>
                      <a:r>
                        <a:rPr sz="1725" b="0">
                          <a:solidFill>
                            <a:srgbClr val="173D30"/>
                          </a:solidFill>
                          <a:latin typeface="Lato"/>
                          <a:ea typeface="Lato"/>
                          <a:cs typeface="Lato"/>
                        </a:rPr>
                        <a:t>Type 2 diabetes mellitus</a:t>
                      </a:r>
                    </a:p>
                  </a:txBody>
                  <a:tcPr marL="91440" marR="91440" marT="45720" marB="45720">
                    <a:lnR w="9525">
                      <a:solidFill>
                        <a:srgbClr val="B8CDB0"/>
                      </a:solidFill>
                      <a:prstDash val="solid"/>
                    </a:lnR>
                    <a:lnB w="9525">
                      <a:solidFill>
                        <a:srgbClr val="B8CDB0"/>
                      </a:solidFill>
                      <a:prstDash val="solid"/>
                    </a:lnB>
                    <a:solidFill>
                      <a:srgbClr val="F5FCEB"/>
                    </a:solidFill>
                  </a:tcPr>
                </a:tc>
                <a:tc>
                  <a:txBody>
                    <a:bodyPr/>
                    <a:lstStyle/>
                    <a:p>
                      <a:r>
                        <a:rPr sz="1725" b="0">
                          <a:solidFill>
                            <a:srgbClr val="173D30"/>
                          </a:solidFill>
                          <a:latin typeface="Lato"/>
                          <a:ea typeface="Lato"/>
                          <a:cs typeface="Lato"/>
                        </a:rPr>
                        <a:t>Fasting blood glucose</a:t>
                      </a:r>
                    </a:p>
                  </a:txBody>
                  <a:tcPr marL="91440" marR="91440" marT="45720" marB="45720">
                    <a:lnR w="9525">
                      <a:solidFill>
                        <a:srgbClr val="B8CDB0"/>
                      </a:solidFill>
                      <a:prstDash val="solid"/>
                    </a:lnR>
                    <a:lnB w="9525">
                      <a:solidFill>
                        <a:srgbClr val="B8CDB0"/>
                      </a:solidFill>
                      <a:prstDash val="solid"/>
                    </a:lnB>
                    <a:solidFill>
                      <a:srgbClr val="F5FCEB"/>
                    </a:solidFill>
                  </a:tcPr>
                </a:tc>
                <a:tc>
                  <a:txBody>
                    <a:bodyPr/>
                    <a:lstStyle/>
                    <a:p>
                      <a:r>
                        <a:rPr sz="1725" b="0">
                          <a:solidFill>
                            <a:srgbClr val="173D30"/>
                          </a:solidFill>
                          <a:latin typeface="Lato"/>
                          <a:ea typeface="Lato"/>
                          <a:cs typeface="Lato"/>
                        </a:rPr>
                        <a:t>1558-6</a:t>
                      </a:r>
                    </a:p>
                  </a:txBody>
                  <a:tcPr marL="91440" marR="91440" marT="45720" marB="45720">
                    <a:lnR w="9525">
                      <a:solidFill>
                        <a:srgbClr val="B8CDB0"/>
                      </a:solidFill>
                      <a:prstDash val="solid"/>
                    </a:lnR>
                    <a:lnB w="9525">
                      <a:solidFill>
                        <a:srgbClr val="B8CDB0"/>
                      </a:solidFill>
                      <a:prstDash val="solid"/>
                    </a:lnB>
                    <a:solidFill>
                      <a:srgbClr val="F5FCEB"/>
                    </a:solidFill>
                  </a:tcPr>
                </a:tc>
              </a:tr>
              <a:tr h="590550">
                <a:tc>
                  <a:txBody>
                    <a:bodyPr/>
                    <a:lstStyle/>
                    <a:p>
                      <a:r>
                        <a:rPr sz="1725" b="1">
                          <a:solidFill>
                            <a:srgbClr val="173D30"/>
                          </a:solidFill>
                          <a:latin typeface="Lato"/>
                          <a:ea typeface="Lato"/>
                          <a:cs typeface="Lato"/>
                        </a:rPr>
                        <a:t>D64.9</a:t>
                      </a:r>
                    </a:p>
                  </a:txBody>
                  <a:tcPr marL="91440" marR="91440" marT="45720" marB="45720">
                    <a:lnL w="9525">
                      <a:solidFill>
                        <a:srgbClr val="B8CDB0"/>
                      </a:solidFill>
                      <a:prstDash val="solid"/>
                    </a:lnL>
                    <a:lnR w="9525">
                      <a:solidFill>
                        <a:srgbClr val="B8CDB0"/>
                      </a:solidFill>
                      <a:prstDash val="solid"/>
                    </a:lnR>
                    <a:lnB w="9525">
                      <a:solidFill>
                        <a:srgbClr val="B8CDB0"/>
                      </a:solidFill>
                      <a:prstDash val="solid"/>
                    </a:lnB>
                    <a:solidFill>
                      <a:srgbClr val="E7F2DD"/>
                    </a:solidFill>
                  </a:tcPr>
                </a:tc>
                <a:tc>
                  <a:txBody>
                    <a:bodyPr/>
                    <a:lstStyle/>
                    <a:p>
                      <a:r>
                        <a:rPr sz="1725" b="0">
                          <a:solidFill>
                            <a:srgbClr val="173D30"/>
                          </a:solidFill>
                          <a:latin typeface="Lato"/>
                          <a:ea typeface="Lato"/>
                          <a:cs typeface="Lato"/>
                        </a:rPr>
                        <a:t>Anaemia, unspecified</a:t>
                      </a:r>
                    </a:p>
                  </a:txBody>
                  <a:tcPr marL="91440" marR="91440" marT="45720" marB="45720">
                    <a:lnR w="9525">
                      <a:solidFill>
                        <a:srgbClr val="B8CDB0"/>
                      </a:solidFill>
                      <a:prstDash val="solid"/>
                    </a:lnR>
                    <a:lnB w="9525">
                      <a:solidFill>
                        <a:srgbClr val="B8CDB0"/>
                      </a:solidFill>
                      <a:prstDash val="solid"/>
                    </a:lnB>
                    <a:solidFill>
                      <a:srgbClr val="E7F2DD"/>
                    </a:solidFill>
                  </a:tcPr>
                </a:tc>
                <a:tc>
                  <a:txBody>
                    <a:bodyPr/>
                    <a:lstStyle/>
                    <a:p>
                      <a:r>
                        <a:rPr sz="1725" b="0">
                          <a:solidFill>
                            <a:srgbClr val="173D30"/>
                          </a:solidFill>
                          <a:latin typeface="Lato"/>
                          <a:ea typeface="Lato"/>
                          <a:cs typeface="Lato"/>
                        </a:rPr>
                        <a:t>Complete Blood Count</a:t>
                      </a:r>
                    </a:p>
                  </a:txBody>
                  <a:tcPr marL="91440" marR="91440" marT="45720" marB="45720">
                    <a:lnR w="9525">
                      <a:solidFill>
                        <a:srgbClr val="B8CDB0"/>
                      </a:solidFill>
                      <a:prstDash val="solid"/>
                    </a:lnR>
                    <a:lnB w="9525">
                      <a:solidFill>
                        <a:srgbClr val="B8CDB0"/>
                      </a:solidFill>
                      <a:prstDash val="solid"/>
                    </a:lnB>
                    <a:solidFill>
                      <a:srgbClr val="E7F2DD"/>
                    </a:solidFill>
                  </a:tcPr>
                </a:tc>
                <a:tc>
                  <a:txBody>
                    <a:bodyPr/>
                    <a:lstStyle/>
                    <a:p>
                      <a:r>
                        <a:rPr sz="1725" b="0">
                          <a:solidFill>
                            <a:srgbClr val="173D30"/>
                          </a:solidFill>
                          <a:latin typeface="Lato"/>
                          <a:ea typeface="Lato"/>
                          <a:cs typeface="Lato"/>
                        </a:rPr>
                        <a:t>58410-2</a:t>
                      </a:r>
                    </a:p>
                  </a:txBody>
                  <a:tcPr marL="91440" marR="91440" marT="45720" marB="45720">
                    <a:lnR w="9525">
                      <a:solidFill>
                        <a:srgbClr val="B8CDB0"/>
                      </a:solidFill>
                      <a:prstDash val="solid"/>
                    </a:lnR>
                    <a:lnB w="9525">
                      <a:solidFill>
                        <a:srgbClr val="B8CDB0"/>
                      </a:solidFill>
                      <a:prstDash val="solid"/>
                    </a:lnB>
                    <a:solidFill>
                      <a:srgbClr val="E7F2DD"/>
                    </a:solidFill>
                  </a:tcPr>
                </a:tc>
              </a:tr>
              <a:tr h="590550">
                <a:tc>
                  <a:txBody>
                    <a:bodyPr/>
                    <a:lstStyle/>
                    <a:p>
                      <a:r>
                        <a:rPr sz="1725" b="1">
                          <a:solidFill>
                            <a:srgbClr val="173D30"/>
                          </a:solidFill>
                          <a:latin typeface="Lato"/>
                          <a:ea typeface="Lato"/>
                          <a:cs typeface="Lato"/>
                        </a:rPr>
                        <a:t>E03.9</a:t>
                      </a:r>
                    </a:p>
                  </a:txBody>
                  <a:tcPr marL="91440" marR="91440" marT="45720" marB="45720">
                    <a:lnL w="9525">
                      <a:solidFill>
                        <a:srgbClr val="B8CDB0"/>
                      </a:solidFill>
                      <a:prstDash val="solid"/>
                    </a:lnL>
                    <a:lnR w="9525">
                      <a:solidFill>
                        <a:srgbClr val="B8CDB0"/>
                      </a:solidFill>
                      <a:prstDash val="solid"/>
                    </a:lnR>
                    <a:lnB w="9525">
                      <a:solidFill>
                        <a:srgbClr val="B8CDB0"/>
                      </a:solidFill>
                      <a:prstDash val="solid"/>
                    </a:lnB>
                    <a:solidFill>
                      <a:srgbClr val="F5FCEB"/>
                    </a:solidFill>
                  </a:tcPr>
                </a:tc>
                <a:tc>
                  <a:txBody>
                    <a:bodyPr/>
                    <a:lstStyle/>
                    <a:p>
                      <a:r>
                        <a:rPr sz="1725" b="0">
                          <a:solidFill>
                            <a:srgbClr val="173D30"/>
                          </a:solidFill>
                          <a:latin typeface="Lato"/>
                          <a:ea typeface="Lato"/>
                          <a:cs typeface="Lato"/>
                        </a:rPr>
                        <a:t>Hypothyroidism, unspecified</a:t>
                      </a:r>
                    </a:p>
                  </a:txBody>
                  <a:tcPr marL="91440" marR="91440" marT="45720" marB="45720">
                    <a:lnR w="9525">
                      <a:solidFill>
                        <a:srgbClr val="B8CDB0"/>
                      </a:solidFill>
                      <a:prstDash val="solid"/>
                    </a:lnR>
                    <a:lnB w="9525">
                      <a:solidFill>
                        <a:srgbClr val="B8CDB0"/>
                      </a:solidFill>
                      <a:prstDash val="solid"/>
                    </a:lnB>
                    <a:solidFill>
                      <a:srgbClr val="F5FCEB"/>
                    </a:solidFill>
                  </a:tcPr>
                </a:tc>
                <a:tc>
                  <a:txBody>
                    <a:bodyPr/>
                    <a:lstStyle/>
                    <a:p>
                      <a:r>
                        <a:rPr sz="1725" b="0">
                          <a:solidFill>
                            <a:srgbClr val="173D30"/>
                          </a:solidFill>
                          <a:latin typeface="Lato"/>
                          <a:ea typeface="Lato"/>
                          <a:cs typeface="Lato"/>
                        </a:rPr>
                        <a:t>TSH</a:t>
                      </a:r>
                    </a:p>
                  </a:txBody>
                  <a:tcPr marL="91440" marR="91440" marT="45720" marB="45720">
                    <a:lnR w="9525">
                      <a:solidFill>
                        <a:srgbClr val="B8CDB0"/>
                      </a:solidFill>
                      <a:prstDash val="solid"/>
                    </a:lnR>
                    <a:lnB w="9525">
                      <a:solidFill>
                        <a:srgbClr val="B8CDB0"/>
                      </a:solidFill>
                      <a:prstDash val="solid"/>
                    </a:lnB>
                    <a:solidFill>
                      <a:srgbClr val="F5FCEB"/>
                    </a:solidFill>
                  </a:tcPr>
                </a:tc>
                <a:tc>
                  <a:txBody>
                    <a:bodyPr/>
                    <a:lstStyle/>
                    <a:p>
                      <a:r>
                        <a:rPr sz="1725" b="0">
                          <a:solidFill>
                            <a:srgbClr val="173D30"/>
                          </a:solidFill>
                          <a:latin typeface="Lato"/>
                          <a:ea typeface="Lato"/>
                          <a:cs typeface="Lato"/>
                        </a:rPr>
                        <a:t>3016-3</a:t>
                      </a:r>
                    </a:p>
                  </a:txBody>
                  <a:tcPr marL="91440" marR="91440" marT="45720" marB="45720">
                    <a:lnR w="9525">
                      <a:solidFill>
                        <a:srgbClr val="B8CDB0"/>
                      </a:solidFill>
                      <a:prstDash val="solid"/>
                    </a:lnR>
                    <a:lnB w="9525">
                      <a:solidFill>
                        <a:srgbClr val="B8CDB0"/>
                      </a:solidFill>
                      <a:prstDash val="solid"/>
                    </a:lnB>
                    <a:solidFill>
                      <a:srgbClr val="F5FCEB"/>
                    </a:solidFill>
                  </a:tcPr>
                </a:tc>
              </a:tr>
              <a:tr h="590550">
                <a:tc>
                  <a:txBody>
                    <a:bodyPr/>
                    <a:lstStyle/>
                    <a:p>
                      <a:r>
                        <a:rPr sz="1725" b="1">
                          <a:solidFill>
                            <a:srgbClr val="173D30"/>
                          </a:solidFill>
                          <a:latin typeface="Lato"/>
                          <a:ea typeface="Lato"/>
                          <a:cs typeface="Lato"/>
                        </a:rPr>
                        <a:t>E78.5</a:t>
                      </a:r>
                    </a:p>
                  </a:txBody>
                  <a:tcPr marL="91440" marR="91440" marT="45720" marB="45720">
                    <a:lnL w="9525">
                      <a:solidFill>
                        <a:srgbClr val="B8CDB0"/>
                      </a:solidFill>
                      <a:prstDash val="solid"/>
                    </a:lnL>
                    <a:lnR w="9525">
                      <a:solidFill>
                        <a:srgbClr val="B8CDB0"/>
                      </a:solidFill>
                      <a:prstDash val="solid"/>
                    </a:lnR>
                    <a:lnB w="9525">
                      <a:solidFill>
                        <a:srgbClr val="B8CDB0"/>
                      </a:solidFill>
                      <a:prstDash val="solid"/>
                    </a:lnB>
                    <a:solidFill>
                      <a:srgbClr val="E7F2DD"/>
                    </a:solidFill>
                  </a:tcPr>
                </a:tc>
                <a:tc>
                  <a:txBody>
                    <a:bodyPr/>
                    <a:lstStyle/>
                    <a:p>
                      <a:r>
                        <a:rPr sz="1725" b="0">
                          <a:solidFill>
                            <a:srgbClr val="173D30"/>
                          </a:solidFill>
                          <a:latin typeface="Lato"/>
                          <a:ea typeface="Lato"/>
                          <a:cs typeface="Lato"/>
                        </a:rPr>
                        <a:t>Hyperlipidaemia, unspecified</a:t>
                      </a:r>
                    </a:p>
                  </a:txBody>
                  <a:tcPr marL="91440" marR="91440" marT="45720" marB="45720">
                    <a:lnR w="9525">
                      <a:solidFill>
                        <a:srgbClr val="B8CDB0"/>
                      </a:solidFill>
                      <a:prstDash val="solid"/>
                    </a:lnR>
                    <a:lnB w="9525">
                      <a:solidFill>
                        <a:srgbClr val="B8CDB0"/>
                      </a:solidFill>
                      <a:prstDash val="solid"/>
                    </a:lnB>
                    <a:solidFill>
                      <a:srgbClr val="E7F2DD"/>
                    </a:solidFill>
                  </a:tcPr>
                </a:tc>
                <a:tc>
                  <a:txBody>
                    <a:bodyPr/>
                    <a:lstStyle/>
                    <a:p>
                      <a:r>
                        <a:rPr sz="1725" b="0">
                          <a:solidFill>
                            <a:srgbClr val="173D30"/>
                          </a:solidFill>
                          <a:latin typeface="Lato"/>
                          <a:ea typeface="Lato"/>
                          <a:cs typeface="Lato"/>
                        </a:rPr>
                        <a:t>Lipid Profile</a:t>
                      </a:r>
                    </a:p>
                  </a:txBody>
                  <a:tcPr marL="91440" marR="91440" marT="45720" marB="45720">
                    <a:lnR w="9525">
                      <a:solidFill>
                        <a:srgbClr val="B8CDB0"/>
                      </a:solidFill>
                      <a:prstDash val="solid"/>
                    </a:lnR>
                    <a:lnB w="9525">
                      <a:solidFill>
                        <a:srgbClr val="B8CDB0"/>
                      </a:solidFill>
                      <a:prstDash val="solid"/>
                    </a:lnB>
                    <a:solidFill>
                      <a:srgbClr val="E7F2DD"/>
                    </a:solidFill>
                  </a:tcPr>
                </a:tc>
                <a:tc>
                  <a:txBody>
                    <a:bodyPr/>
                    <a:lstStyle/>
                    <a:p>
                      <a:r>
                        <a:rPr sz="1725" b="0">
                          <a:solidFill>
                            <a:srgbClr val="173D30"/>
                          </a:solidFill>
                          <a:latin typeface="Lato"/>
                          <a:ea typeface="Lato"/>
                          <a:cs typeface="Lato"/>
                        </a:rPr>
                        <a:t>24331-1</a:t>
                      </a:r>
                    </a:p>
                  </a:txBody>
                  <a:tcPr marL="91440" marR="91440" marT="45720" marB="45720">
                    <a:lnR w="9525">
                      <a:solidFill>
                        <a:srgbClr val="B8CDB0"/>
                      </a:solidFill>
                      <a:prstDash val="solid"/>
                    </a:lnR>
                    <a:lnB w="9525">
                      <a:solidFill>
                        <a:srgbClr val="B8CDB0"/>
                      </a:solidFill>
                      <a:prstDash val="solid"/>
                    </a:lnB>
                    <a:solidFill>
                      <a:srgbClr val="E7F2DD"/>
                    </a:solidFill>
                  </a:tcPr>
                </a:tc>
              </a:tr>
            </a:tbl>
          </a:graphicData>
        </a:graphic>
      </p:graphicFrame>
      <p:sp>
        <p:nvSpPr>
          <p:cNvPr id="25" name="">
            <a:extLst xmlns:a="http://schemas.openxmlformats.org/drawingml/2006/main">
              <a:ext uri="{FF2B5EF4-FFF2-40B4-BE49-F238E27FC236}">
                <a16:creationId xmlns:a16="http://schemas.microsoft.com/office/drawing/2014/main" id="{B5C85704-BDA7-473F-B3DD-2E28284370DC}"/>
              </a:ext>
            </a:extLst>
          </p:cNvPr>
          <p:cNvSpPr>
            <a:spLocks xmlns:a="http://schemas.openxmlformats.org/drawingml/2006/main" noGrp="1"/>
          </p:cNvSpPr>
          <p:nvPr/>
        </p:nvSpPr>
        <p:spPr>
          <a:xfrm xmlns:a="http://schemas.openxmlformats.org/drawingml/2006/main">
            <a:off x="9839325" y="4105275"/>
            <a:ext cx="47625" cy="3286125"/>
          </a:xfrm>
          <a:prstGeom xmlns:a="http://schemas.openxmlformats.org/drawingml/2006/main" prst="rect">
            <a:avLst/>
          </a:prstGeom>
          <a:solidFill xmlns:a="http://schemas.openxmlformats.org/drawingml/2006/main">
            <a:srgbClr val="BBAE7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1F7550E-C352-4F50-B502-B340D38E6363}"/>
              </a:ext>
            </a:extLst>
          </p:cNvPr>
          <p:cNvSpPr>
            <a:spLocks xmlns:a="http://schemas.openxmlformats.org/drawingml/2006/main" noGrp="1"/>
          </p:cNvSpPr>
          <p:nvPr/>
        </p:nvSpPr>
        <p:spPr>
          <a:xfrm xmlns:a="http://schemas.openxmlformats.org/drawingml/2006/main">
            <a:off x="10096500" y="4095750"/>
            <a:ext cx="3933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3D30"/>
                </a:solidFill>
                <a:latin typeface="Lato"/>
                <a:ea typeface="Lato"/>
                <a:cs typeface="Lato"/>
              </a:defRPr>
            </a:defPPr>
          </a:lstStyle>
          <a:p xmlns:a="http://schemas.openxmlformats.org/drawingml/2006/main">
            <a:pPr>
              <a:defRPr sz="2250" b="1">
                <a:solidFill>
                  <a:srgbClr val="173D30"/>
                </a:solidFill>
                <a:latin typeface="Lato"/>
                <a:ea typeface="Lato"/>
                <a:cs typeface="Lato"/>
              </a:defRPr>
            </a:pPr>
            <a:r>
              <a:rPr sz="2250" b="1">
                <a:solidFill>
                  <a:srgbClr val="173D30"/>
                </a:solidFill>
                <a:latin typeface="Lato"/>
                <a:ea typeface="Lato"/>
                <a:cs typeface="Lato"/>
              </a:rPr>
              <a:t>How the suggestions work</a:t>
            </a:r>
          </a:p>
        </p:txBody>
      </p:sp>
      <p:sp>
        <p:nvSpPr>
          <p:cNvPr id="27" name="">
            <a:extLst xmlns:a="http://schemas.openxmlformats.org/drawingml/2006/main">
              <a:ext uri="{FF2B5EF4-FFF2-40B4-BE49-F238E27FC236}">
                <a16:creationId xmlns:a16="http://schemas.microsoft.com/office/drawing/2014/main" id="{C35AB890-DBC7-4DCF-84CA-B2FF5D04B0EB}"/>
              </a:ext>
            </a:extLst>
          </p:cNvPr>
          <p:cNvSpPr>
            <a:spLocks xmlns:a="http://schemas.openxmlformats.org/drawingml/2006/main" noGrp="1"/>
          </p:cNvSpPr>
          <p:nvPr/>
        </p:nvSpPr>
        <p:spPr>
          <a:xfrm xmlns:a="http://schemas.openxmlformats.org/drawingml/2006/main">
            <a:off x="10096500" y="4905375"/>
            <a:ext cx="39147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D30"/>
                </a:solidFill>
                <a:latin typeface="Lato"/>
                <a:ea typeface="Lato"/>
                <a:cs typeface="Lato"/>
              </a:defRPr>
            </a:defPPr>
          </a:lstStyle>
          <a:p xmlns:a="http://schemas.openxmlformats.org/drawingml/2006/main">
            <a:pPr>
              <a:defRPr sz="1950" b="0">
                <a:solidFill>
                  <a:srgbClr val="173D30"/>
                </a:solidFill>
                <a:latin typeface="Lato"/>
                <a:ea typeface="Lato"/>
                <a:cs typeface="Lato"/>
              </a:defRPr>
            </a:pPr>
            <a:r>
              <a:rPr sz="1950" b="0">
                <a:solidFill>
                  <a:srgbClr val="173D30"/>
                </a:solidFill>
                <a:latin typeface="Lato"/>
                <a:ea typeface="Lato"/>
                <a:cs typeface="Lato"/>
              </a:rPr>
              <a:t>Each diagnosis currently suggests one existing test or panel.</a:t>
            </a:r>
          </a:p>
        </p:txBody>
      </p:sp>
      <p:sp>
        <p:nvSpPr>
          <p:cNvPr id="28" name="">
            <a:extLst xmlns:a="http://schemas.openxmlformats.org/drawingml/2006/main">
              <a:ext uri="{FF2B5EF4-FFF2-40B4-BE49-F238E27FC236}">
                <a16:creationId xmlns:a16="http://schemas.microsoft.com/office/drawing/2014/main" id="{A22D72F7-B736-4208-BC36-CFE2D04F4E0B}"/>
              </a:ext>
            </a:extLst>
          </p:cNvPr>
          <p:cNvSpPr>
            <a:spLocks xmlns:a="http://schemas.openxmlformats.org/drawingml/2006/main" noGrp="1"/>
          </p:cNvSpPr>
          <p:nvPr/>
        </p:nvSpPr>
        <p:spPr>
          <a:xfrm xmlns:a="http://schemas.openxmlformats.org/drawingml/2006/main">
            <a:off x="10096500" y="5705475"/>
            <a:ext cx="3914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D30"/>
                </a:solidFill>
                <a:latin typeface="Lato"/>
                <a:ea typeface="Lato"/>
                <a:cs typeface="Lato"/>
              </a:defRPr>
            </a:defPPr>
          </a:lstStyle>
          <a:p xmlns:a="http://schemas.openxmlformats.org/drawingml/2006/main">
            <a:pPr>
              <a:defRPr sz="1950" b="0">
                <a:solidFill>
                  <a:srgbClr val="173D30"/>
                </a:solidFill>
                <a:latin typeface="Lato"/>
                <a:ea typeface="Lato"/>
                <a:cs typeface="Lato"/>
              </a:defRPr>
            </a:pPr>
            <a:r>
              <a:rPr sz="1950" b="0">
                <a:solidFill>
                  <a:srgbClr val="173D30"/>
                </a:solidFill>
                <a:latin typeface="Lato"/>
                <a:ea typeface="Lato"/>
                <a:cs typeface="Lato"/>
              </a:rPr>
              <a:t>The doctor can add or remove tests before creating the order.</a:t>
            </a:r>
          </a:p>
        </p:txBody>
      </p:sp>
      <p:sp>
        <p:nvSpPr>
          <p:cNvPr id="29" name="">
            <a:extLst xmlns:a="http://schemas.openxmlformats.org/drawingml/2006/main">
              <a:ext uri="{FF2B5EF4-FFF2-40B4-BE49-F238E27FC236}">
                <a16:creationId xmlns:a16="http://schemas.microsoft.com/office/drawing/2014/main" id="{DE2EE72F-70C5-4D9F-8BBC-0F50503C379C}"/>
              </a:ext>
            </a:extLst>
          </p:cNvPr>
          <p:cNvSpPr>
            <a:spLocks xmlns:a="http://schemas.openxmlformats.org/drawingml/2006/main" noGrp="1"/>
          </p:cNvSpPr>
          <p:nvPr/>
        </p:nvSpPr>
        <p:spPr>
          <a:xfrm xmlns:a="http://schemas.openxmlformats.org/drawingml/2006/main">
            <a:off x="10096500" y="6572250"/>
            <a:ext cx="3914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3D30"/>
                </a:solidFill>
                <a:latin typeface="Lato"/>
                <a:ea typeface="Lato"/>
                <a:cs typeface="Lato"/>
              </a:defRPr>
            </a:defPPr>
          </a:lstStyle>
          <a:p xmlns:a="http://schemas.openxmlformats.org/drawingml/2006/main">
            <a:pPr>
              <a:defRPr sz="1950" b="0">
                <a:solidFill>
                  <a:srgbClr val="173D30"/>
                </a:solidFill>
                <a:latin typeface="Lato"/>
                <a:ea typeface="Lato"/>
                <a:cs typeface="Lato"/>
              </a:defRPr>
            </a:pPr>
            <a:r>
              <a:rPr sz="1950" b="0">
                <a:solidFill>
                  <a:srgbClr val="173D30"/>
                </a:solidFill>
                <a:latin typeface="Lato"/>
                <a:ea typeface="Lato"/>
                <a:cs typeface="Lato"/>
              </a:rPr>
              <a:t>Record the patient’s diagnosis separately in Consultation.</a:t>
            </a:r>
          </a:p>
        </p:txBody>
      </p:sp>
    </p:spTree>
    <p:extLst>
      <p:ext uri="{BB962C8B-B14F-4D97-AF65-F5344CB8AC3E}">
        <p14:creationId xmlns:p14="http://schemas.microsoft.com/office/powerpoint/2010/main" val="10998366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2026-10-15T21:35:17.0840000Z</dcterms:created>
  <dcterms:modified xsi:type="dcterms:W3CDTF">2026-10-15T21:35:17.0840000Z</dcterms:modified>
</coreProperties>
</file>